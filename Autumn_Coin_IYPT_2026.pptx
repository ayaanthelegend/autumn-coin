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16:</a:t>
            </a:r>
          </a:p>
          <a:p>
            <a:r>
              <a:t>Here we map real physical coins and custom design discs across dimensionless inertia I*.</a:t>
            </a:r>
          </a:p>
          <a:p>
            <a:r>
              <a:t>Notice the crucial difference between the literature baseline damping mu_1 = 0.20 and the tuned value 0.01: at mu_1 = 0.20, the brass 24x3.0 mm disc (I* = 1.065) flutters stably, whereas at mu_1 = 0.01 it falsely tumbles.</a:t>
            </a:r>
          </a:p>
          <a:p>
            <a:r>
              <a:t>Crucially, real Pakistani coins (Rs10 and Rs5) have I* = 0.42 and 0.60, which flutter periodically in our 2D model. However, in 3D stereoscopic drop experiments (such as ondrej-cloud's MIT dataset), Czech coins at similar I* mostly tumbled. This is an open discrepancy: real coins possess three rotational degrees of freedom, edge roll, and conical precession that destabilize them into tumbling at much lower effective inertia than a 2D planar cross-section. We report this as an open discrepancy and never claim agreement between 2D planar theory and 3D coin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17:</a:t>
            </a:r>
          </a:p>
          <a:p>
            <a:r>
              <a:t>On this slide, we clearly delineate what is established in the literature versus what constitutes our own contribution.</a:t>
            </a:r>
          </a:p>
          <a:p>
            <a:r>
              <a:t>The sequence of regimes—steady descent, periodic fluttering, autorotating tumbling, and chaotic/mixed—was established by Field et al. in Nature (1997) and Andersen, Pesavento, and Wang in Journal of Fluid Mechanics (2005). We do not claim this ordering as a novel discovery.</a:t>
            </a:r>
          </a:p>
          <a:p>
            <a:r>
              <a:t>Our contribution consists of: first, a coin-by-coin physical mapping for Pakistani coins and precision design discs; second, an explicit sensitivity study of the linear torque damping mu_1 showing that tumbling onset shifts from I*_c = 0.958 at mu_1 = 0.00 to 1.217 at the literature baseline mu_1 = 0.20; third, proving that the tumbling boundary is robustly invariant across release angles; and fourth, establishing an honest assessment of the open discrepancy between 2D planar models and 3D coin dynamics.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IYPT 2026 — Problem 12: “Autumn Coin”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Computational Investigation of Falling Coin Hydrodynamics: 2D Kirchhoff–Andersen ODE &amp; 2D WCSPH-FSI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4552" cy="11430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500" b="1">
                <a:solidFill>
                  <a:srgbClr val="144182"/>
                </a:solidFill>
                <a:latin typeface="Calibri"/>
              </a:defRPr>
            </a:pPr>
            <a:r>
              <a:t>Official IYPT Problem 12 Statement</a:t>
            </a:r>
          </a:p>
          <a:p>
            <a:pPr>
              <a:spcAft>
                <a:spcPts val="300"/>
              </a:spcAft>
              <a:defRPr sz="1400">
                <a:solidFill>
                  <a:srgbClr val="14181F"/>
                </a:solidFill>
                <a:latin typeface="Calibri"/>
              </a:defRPr>
            </a:pPr>
            <a:r>
              <a:t>“The motion of a coin falling to the bottom of a tank filled with liquid can be remarkably similar to the fluttering and tumbling of a falling autumn leaf. Investigate how the motion of the coin depends on relevant parameters.”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1274552" cy="3566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14181F"/>
                </a:solidFill>
                <a:latin typeface="Calibri"/>
              </a:defRPr>
            </a:pPr>
            <a:r>
              <a:t>•  Two-Stage Computational Architecture: All results are numerical simulations (explicitly labeled everywhere), cross-validated against published fluid mechanics benchmarks.</a:t>
            </a:r>
          </a:p>
          <a:p>
            <a:pPr>
              <a:spcAft>
                <a:spcPts val="700"/>
              </a:spcAft>
              <a:defRPr sz="1450">
                <a:solidFill>
                  <a:srgbClr val="14181F"/>
                </a:solidFill>
                <a:latin typeface="Calibri"/>
              </a:defRPr>
            </a:pPr>
            <a:r>
              <a:t>•  Stage 1 (2D Quasi-Steady ODE Solver): Coupled 6-DOF planar Kirchhoff equations with potential-flow added mass, Kutta–Joukowski circulation, and nonlinear viscous damping after Andersen, Pesavento &amp; Wang (J. Fluid Mech. 541, 2005a,b).</a:t>
            </a:r>
          </a:p>
          <a:p>
            <a:pPr>
              <a:spcAft>
                <a:spcPts val="700"/>
              </a:spcAft>
              <a:defRPr sz="1450">
                <a:solidFill>
                  <a:srgbClr val="14181F"/>
                </a:solidFill>
                <a:latin typeface="Calibri"/>
              </a:defRPr>
            </a:pPr>
            <a:r>
              <a:t>•  Stage 2 (2D WCSPH + Two-Way Rigid-Fluid FSI): Weakly Compressible Smoothed Particle Hydrodynamics with Morris laminar viscosity and Akinci et al. (2012) boundary coupling to probe explicit viscosity (Re) effects and wake vorticity.</a:t>
            </a:r>
          </a:p>
          <a:p>
            <a:pPr>
              <a:spcAft>
                <a:spcPts val="700"/>
              </a:spcAft>
              <a:defRPr sz="1450">
                <a:solidFill>
                  <a:srgbClr val="14181F"/>
                </a:solidFill>
                <a:latin typeface="Calibri"/>
              </a:defRPr>
            </a:pPr>
            <a:r>
              <a:t>•  Literature &amp; Dataset Validation: Benchmarked against Field et al. (Nature 1997), Andersen et al. (2005a,b), and third-party 3D stereo-tracked coin drops (ondrej-cloud MIT dataset, 143 drops).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2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1. Physical Mechanism: Why Does a Falling Coin Flutter &amp; Tumble?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Interplay of Potential-Flow Added Mass (Munk Moment), Vortex Circulation Lift, and Buoyant 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852160" cy="4937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1. Broadside Alignment (Munk Moment): An edge-on coin moving through fluid experiences convective pressure gradients at its leading and trailing edges. Potential flow creates a destabilizing torque τ_Munk = (m11 − m22)*u*v that pitches the coin broadside to the flow.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2. Sideways Glide &amp; Circulation Lift: As the tilted coin slides sideways, shear layers separate at the sharp edges, shedding vortices and generating circulation Γ. The Kutta–Joukowski force F_L = ρ_f * Γ * V lifts and decelerates the coin.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3. Turning Point vs. Autorotation Bifurcation: Near the end of a sideways glide, the pitching moment raises the leading edge:</a:t>
            </a:r>
          </a:p>
          <a:p>
            <a:pPr>
              <a:spcAft>
                <a:spcPts val="5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    –  Low Inertia (I* &lt; I*_c): Gravity reverses the slide before θ reaches ±90° → Periodic Fluttering.</a:t>
            </a:r>
          </a:p>
          <a:p>
            <a:pPr>
              <a:spcAft>
                <a:spcPts val="5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    –  High Inertia (I* &gt; I*_c): Rotational momentum carries the coin past vertical (±90°) → Continuous Tumbling.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280160"/>
            <a:ext cx="5212080" cy="242316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50" b="1">
                <a:solidFill>
                  <a:srgbClr val="144182"/>
                </a:solidFill>
                <a:latin typeface="Calibri"/>
              </a:defRPr>
            </a:pPr>
            <a:r>
              <a:t>Co-Moving Body-Frame Coordinate System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Lab Frame (X, Y): +Y vertically upward, gravity acts in −Y.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Orientation θ: Angle of major axis (chord L) from +X axis.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Body Velocities (u, v): u along major axis (+x_b), v along minor axis (+y_b).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Angle of Attack: α = atan2(−v, u)  [α = π/2 when falling broadside (u=0, v&lt;0)].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Angular Velocity: ω = dθ/dt.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886200"/>
            <a:ext cx="5212080" cy="224028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50" b="1">
                <a:solidFill>
                  <a:srgbClr val="144182"/>
                </a:solidFill>
                <a:latin typeface="Calibri"/>
              </a:defRPr>
            </a:pPr>
            <a:r>
              <a:t>The Four Classical Dynamical Regimes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1. Steady Descent: Overdamped broadside fall (θ → 0°, X ≈ const).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2. Periodic Fluttering: Side-to-side oscillation (|θ| &lt; π, 0 flips).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3. Chaotic / Mixed: Alternating flutter bouts and rotational flips.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4. Autorotative Tumbling: Continuous rotation with lateral glide.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3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2. Dimensional Analysis &amp; Governing Dimensionless Groups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Correcting the Moment-of-Inertia Scaling and Distinguishing Input vs. Measured Reynolds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486400" cy="2514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50" b="1">
                <a:solidFill>
                  <a:srgbClr val="144182"/>
                </a:solidFill>
                <a:latin typeface="Calibri"/>
              </a:defRPr>
            </a:pPr>
            <a:r>
              <a:t>1. Dimensionless Moment of Inertia (I*)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2D Plate Cross-Section (Andersen et al. 2005a,b):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    I* = (ρ_s * h) / (ρ_f * L)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3D Circular Disk of Diameter d (Field et al. 1997):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    I*_disk = I_solid / (ρ_f * d^5) = (π / 64) * (ρ_s * h) / (ρ_f * d)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Physical Meaning: Ratio of solid rotational inertia (~ρ_s*L^3*h) to fluid added rotational inertia (~ρ_f*L^4).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5486400" cy="219456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A5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50" b="1">
                <a:solidFill>
                  <a:srgbClr val="A52323"/>
                </a:solidFill>
                <a:latin typeface="Calibri"/>
              </a:defRPr>
            </a:pPr>
            <a:r>
              <a:t>CRITICAL CORRECTION: Why I / (m * R^2) is Invalid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 common error is defining I* = I / (m * R^2).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For ANY solid disk or ellipse, I / (m * R^2) = const (1/4 or 1/2).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It cancels out ρ_s, ρ_f, and h/L completely, carrying zero information about fluid-solid coupling!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559552" cy="48920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50" b="1">
                <a:solidFill>
                  <a:srgbClr val="144182"/>
                </a:solidFill>
                <a:latin typeface="Calibri"/>
              </a:defRPr>
            </a:pPr>
            <a:r>
              <a:t>2. Froude Velocity Scale, Reynolds Number (Re) &amp; Strouhal Number (St)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Buoyant-Gravitational Velocity Scale: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      U_t = sqrt( (ρ_s / ρ_f − 1) * g * h 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Input (A Priori) Reynolds Number: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      Re_in = (ρ_f * U_t * L) / μ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Measured (A Posteriori) Reynolds Number: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      Re_meas = (ρ_f * U_mean * L) / μ   (from post-transient descent speed U_mean)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Strouhal Number (Vortex / Oscillation Frequency Scaling):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      St = (f * L) / U_mean   (where f is dominant FFT frequency of θ(t))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Aspect Ratio:  β = h / L = b /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4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3. 2D Cross-Section Geometry &amp; Reference Simulation Sets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Elliptical Cross-Section Approximation and Potential-Flow Added-Mass Tensor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74552" cy="21488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50" b="1">
                <a:solidFill>
                  <a:srgbClr val="144182"/>
                </a:solidFill>
                <a:latin typeface="Calibri"/>
              </a:defRPr>
            </a:pPr>
            <a:r>
              <a:t>Geometry &amp; Analytical Potential-Flow Added Mass (per unit depth)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Elliptical cross-section: semi-major axis a = L/2, semi-minor axis b = h/2, area A = π*a*b.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Solid mass: m = ρ_s * π * a * b     |   Displaced fluid mass: m_f = ρ_f * π * a * b.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Solid moment of inertia:  I = (1/4) * m * (a^2 + b^2).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Added Mass along chord (u):     m11 = π * ρ_f * b^2   (vanishes in thin limit b → 0).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Added Mass normal to chord (v): m22 = π * ρ_f * a^2   (scales with chord squared).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Added Moment of Inertia (ω):    I_a = (π / 8) * ρ_f * (a^2 − b^2)^2.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566160"/>
          <a:ext cx="11274552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1097280"/>
                <a:gridCol w="914400"/>
                <a:gridCol w="914400"/>
                <a:gridCol w="914400"/>
                <a:gridCol w="1463040"/>
                <a:gridCol w="1307592"/>
              </a:tblGrid>
              <a:tr h="44958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 Set Name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Simulation Role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ρ_s [kg/m³]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 [mm]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 [mm]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β = h/L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I* (in Water)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U_t [m/s]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reference_card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baseline active fluttering showcase (I* ~ 0.68)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9000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20.0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1.50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0.0750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0.676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0.343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steady_card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steady descent baseline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1200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20.0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2.00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0.1000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0.120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0.063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heavy_coin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metal coin, high I*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7800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24.0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1.80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0.0750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0.586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0.347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light_coin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low I*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2700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24.0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1.80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0.0750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0.203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0.174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washer_proxy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lower effective density (hole)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4000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24.0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1.80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0.0750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0.301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0.230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5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4. Mathematical Model: Coupled 2D Kirchhoff–Andersen ODEs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Andersen, Pesavento &amp; Wang (2005b), J. Fluid Mech. 541, 91–104 (equation numbering unchecked)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74552" cy="28346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450" b="1">
                <a:solidFill>
                  <a:srgbClr val="144182"/>
                </a:solidFill>
                <a:latin typeface="Calibri"/>
              </a:defRPr>
            </a:pPr>
            <a:r>
              <a:t>6-State Coupled Ordinary Differential Equation System: state = [X, Y, θ, u, v, ω]</a:t>
            </a:r>
          </a:p>
          <a:p>
            <a:pPr>
              <a:spcAft>
                <a:spcPts val="3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Lab-Frame Kinematics:</a:t>
            </a:r>
          </a:p>
          <a:p>
            <a:pPr>
              <a:spcAft>
                <a:spcPts val="300"/>
              </a:spcAft>
              <a:defRPr sz="1350">
                <a:solidFill>
                  <a:srgbClr val="14181F"/>
                </a:solidFill>
                <a:latin typeface="Cambria Math"/>
              </a:defRPr>
            </a:pPr>
            <a:r>
              <a:t>    dX/dt = u cos(θ) − v sin(θ),      dY/dt = u sin(θ) + v cos(θ),      dθ/dt = ω</a:t>
            </a:r>
          </a:p>
          <a:p>
            <a:pPr>
              <a:spcAft>
                <a:spcPts val="300"/>
              </a:spcAft>
              <a:defRPr sz="1350">
                <a:solidFill>
                  <a:srgbClr val="14181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Body-Frame Dynamics (Kirchhoff Equations + Quasi-Steady Hydrodynamic Forces):</a:t>
            </a:r>
          </a:p>
          <a:p>
            <a:pPr>
              <a:spcAft>
                <a:spcPts val="300"/>
              </a:spcAft>
              <a:defRPr sz="1350">
                <a:solidFill>
                  <a:srgbClr val="14181F"/>
                </a:solidFill>
                <a:latin typeface="Cambria Math"/>
              </a:defRPr>
            </a:pPr>
            <a:r>
              <a:t>    (m + m11) du/dt =  (m + m22) v ω  −  ρ_f Γ v  −  F_u  −  (m − m_f) g sin(θ)        [Eq. 3.1 (numbering unchecked)]</a:t>
            </a:r>
          </a:p>
          <a:p>
            <a:pPr>
              <a:spcAft>
                <a:spcPts val="300"/>
              </a:spcAft>
              <a:defRPr sz="1350">
                <a:solidFill>
                  <a:srgbClr val="14181F"/>
                </a:solidFill>
                <a:latin typeface="Cambria Math"/>
              </a:defRPr>
            </a:pPr>
            <a:r>
              <a:t>    (m + m22) dv/dt = −(m + m11) u ω  +  ρ_f Γ u  −  F_v  −  (m − m_f) g cos(θ)        [Eq. 3.2 (numbering unchecked)]</a:t>
            </a:r>
          </a:p>
          <a:p>
            <a:pPr>
              <a:spcAft>
                <a:spcPts val="300"/>
              </a:spcAft>
              <a:defRPr sz="1350">
                <a:solidFill>
                  <a:srgbClr val="14181F"/>
                </a:solidFill>
                <a:latin typeface="Cambria Math"/>
              </a:defRPr>
            </a:pPr>
            <a:r>
              <a:t>    (I + I_a) dω/dt =  (m11 − m22) u v  −  τ_ν                                         [Eq. 3.3 (numbering unchecked)]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1274552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4181F"/>
                </a:solidFill>
                <a:latin typeface="Calibri"/>
              </a:defRPr>
            </a:pPr>
            <a:r>
              <a:t>•  Physical Interpretation of Governing Terms in Eqs. (3.1)–(3.3):</a:t>
            </a:r>
          </a:p>
          <a:p>
            <a:pPr>
              <a:spcAft>
                <a:spcPts val="700"/>
              </a:spcAft>
              <a:defRPr sz="1300">
                <a:solidFill>
                  <a:srgbClr val="14181F"/>
                </a:solidFill>
                <a:latin typeface="Calibri"/>
              </a:defRPr>
            </a:pPr>
            <a:r>
              <a:t>•  Coriolis &amp; Added Mass: +(m + m22) v ω and −(m + m11) u ω represent rotating body-frame apparent coupling.</a:t>
            </a:r>
          </a:p>
          <a:p>
            <a:pPr>
              <a:spcAft>
                <a:spcPts val="700"/>
              </a:spcAft>
              <a:defRPr sz="1300">
                <a:solidFill>
                  <a:srgbClr val="14181F"/>
                </a:solidFill>
                <a:latin typeface="Calibri"/>
              </a:defRPr>
            </a:pPr>
            <a:r>
              <a:t>•  Kutta–Joukowski Circulation Lift: −ρ_f Γ v and +ρ_f Γ u act perpendicular to velocity vector V = (u, v), doing zero mechanical work.</a:t>
            </a:r>
          </a:p>
          <a:p>
            <a:pPr>
              <a:spcAft>
                <a:spcPts val="700"/>
              </a:spcAft>
              <a:defRPr sz="1300">
                <a:solidFill>
                  <a:srgbClr val="14181F"/>
                </a:solidFill>
                <a:latin typeface="Calibri"/>
              </a:defRPr>
            </a:pPr>
            <a:r>
              <a:t>•  Destabilizing Munk Torque: (m11 − m22) u v = −π ρ_f (a^2 − b^2) u v drives the plate broadside to flow.</a:t>
            </a:r>
          </a:p>
          <a:p>
            <a:pPr>
              <a:spcAft>
                <a:spcPts val="700"/>
              </a:spcAft>
              <a:defRPr sz="1300">
                <a:solidFill>
                  <a:srgbClr val="14181F"/>
                </a:solidFill>
                <a:latin typeface="Calibri"/>
              </a:defRPr>
            </a:pPr>
            <a:r>
              <a:t>•  Dimensional Consistency Audit: Γ has units [m²/s]; linear terms have units [N/m]; angular equation has units [N·m/m = N].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6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5. Mathematical Model: Circulation, Viscous Drag &amp; Rotational Torque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Exact Force &amp; Torque Parameterizations from Andersen et al. (2005b) (numbering unchecked)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532120" cy="242316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144182"/>
                </a:solidFill>
                <a:latin typeface="Calibri"/>
              </a:defRPr>
            </a:pPr>
            <a:r>
              <a:t>1. Quasi-Steady Circulation Γ (numbering unchecked)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In terms of semi-chord a = L/2:   Γ = −2 C_T a (u v / |V|) + 2 C_R a^2 ω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In terms of full chord L = 2a:    Γ = −C_T L (u v / |V|) + 0.5 C_R L^2 ω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• Translational Stall Lift: Since sin(2α) = −2 u v / |V|^2, the implied lift coefficient is: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      C_L(α) = 2 Γ_trans / (|V| L) = C_T sin(2α)  →  Peaks at C_L,max = C_T = 1.2 at α = 45°.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• Rotational Magnus Circulation: 0.5 C_R L^2 ω with C_R = π generates upward/sideways lift during spin.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532120" cy="23317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144182"/>
                </a:solidFill>
                <a:latin typeface="Calibri"/>
              </a:defRPr>
            </a:pPr>
            <a:r>
              <a:t>2. Angle-Dependent Viscous Drag (numbering unchecked)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C_D(α) = C_D0 − C_D1 cos(2α) = 1.4 − 1.0 cos(2α)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(F_u, F_v) = 0.5 * ρ_f * L * C_D(α) * |V| * (u, v)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• Edge-on minimum (α = 0):   C_D(0) = 0.4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• Broadside maximum (α = π/2): C_D(π/2) = 2.4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559552" cy="48920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144182"/>
                </a:solidFill>
                <a:latin typeface="Calibri"/>
              </a:defRPr>
            </a:pPr>
            <a:r>
              <a:t>3. Dissipative Rotational Torque τ_ν (numbering unchecked &amp; Strip Theory Equivalence)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libri"/>
              </a:defRPr>
            </a:pPr>
            <a:r>
              <a:t>Andersen et al. (2005b) combines linear viscous damping (μ_1) and quadratic drag (μ_2):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    τ_ν = π ρ_f a^4 [ (U_char / a) μ_1 + μ_2 |ω| ] ω,    where U_char = sqrt((ρ_s/ρ_f − 1) g (h/2))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Substituting a = L / 2 gives our exact implementation: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    τ_ν = 0.5 C_τ ρ_f L^4 |ω| ω  +  (π / 8) ρ_f L^3 U_char μ_1 ω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• Exact Conversion: C_τ = π μ_2 / 8. For Andersen's fitted μ_2 = 0.2, C_τ = 0.0785.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• Strip-Theory Derivation: Integrating 0.5 ρ_f C_D(π/2) |ω r| (ω r) r dr from −L/2 to +L/2 gives: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      C_τ,strip = C_D(π/2) / 32 = 2.4 / 32 = 0.0750  (Agrees with Andersen baseline within 4.5%!).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• Role of Linear Term μ_1: Literature baseline μ_1 = 0.20 reproduces flutter-tumble boundary at I*_c = 1.213; μ_1 = 0.01 is a tuned value ('tuned, not from the paper') yielding premature tumbling at I*_c = 0.970.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7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6. Hydrodynamic Coefficient Table &amp; Literature Baseline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All Parameters Centralized in `config/base.yaml` with Literature Baseline and Sensitivity Analyses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455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188720"/>
                <a:gridCol w="914400"/>
                <a:gridCol w="3931920"/>
                <a:gridCol w="4233672"/>
              </a:tblGrid>
              <a:tr h="54356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Units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Mathematical Formula / Role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Literature Source &amp; Literature Status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ρ_f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998.0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kg/m³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Fluid density (water at 20°C)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Standard physical property (water at 20°C)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μ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1.00 × 10⁻³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Pa·s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Dynamic viscosity (for a posteriori Re)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Standard physical property (water at 20°C)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C_T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1.20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Translational circulation: Γ_trans = −C_T L u v / |V|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Andersen et al. (2005b) as used in ondrej-cloud implementation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C_R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π (3.1416)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Rotational circulation: Γ_rot = 0.5 C_R L² ω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Andersen et al. (2005b) as used in ondrej-cloud implementation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C_D0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1.40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Baseline drag constant: C_D(α) = C_D0 − C_D1 cos(2α)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Andersen et al. (2005b) thin plate drag model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C_D1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Angle-dependent drag amplitude (C_D in [0.4, 2.4])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Andersen et al. (2005b) edge-on min, broadside max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C_τ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0.07854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Quadratic rotational damping: 0.5 C_τ ρ_f L⁴ |ω|ω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Derived baseline C_τ = π μ₂ / 8 (μ₂ = 0.20); 0.075 strip theory is alternative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μ_1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Linear viscous rotational damping: (π/8) ρ_f L³ U_char μ_1 ω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Literature baseline (Andersen et al. 2005b); 0.01 is tuned, not from paper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8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7. Numerical Integration &amp; Post-Transient Regime Classifier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High-Order Explicit Runge–Kutta Integration and Objective Trajectory Classification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303520" cy="48920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50" b="1">
                <a:solidFill>
                  <a:srgbClr val="144182"/>
                </a:solidFill>
                <a:latin typeface="Calibri"/>
              </a:defRPr>
            </a:pPr>
            <a:r>
              <a:t>Numerical Integrator Specs (`src/autumn/integrate.py`)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Solver: SciPy `solve_ivp` with 8th-order Dormand–Prince (`DOP853`).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Error Tolerances: rtol = 1.0 × 10⁻⁹,  atol = 1.0 × 10⁻¹¹.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Dense Output Sampling: dt_out = 1.0 × 10⁻³ s.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Terminal Bottom Event: H_fall = 40 L (tank/benchmarks) to 100 L (asymptotic regime map).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mbria Math"/>
              </a:defRPr>
            </a:pPr>
            <a:r>
              <a:t>• Adaptive Cutoff: t_max = max(80 s, 5 * H_fall / U_term,est).</a:t>
            </a:r>
          </a:p>
          <a:p>
            <a:pPr>
              <a:spcAft>
                <a:spcPts val="300"/>
              </a:spcAft>
              <a:defRPr sz="1250">
                <a:solidFill>
                  <a:srgbClr val="14181F"/>
                </a:solidFill>
                <a:latin typeface="Calibri"/>
              </a:defRPr>
            </a:pPr>
            <a:r>
              <a:t>• Transient Removal: Discard initial 20% of fall time (t &lt; max(0.2 t_end, 1.0 s)) and initial 20% of drop depth (Y &gt; Y_0 − 0.2 H_fall).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234440"/>
          <a:ext cx="578815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514600"/>
                <a:gridCol w="1947672"/>
              </a:tblGrid>
              <a:tr h="97840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Regime Label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Post-Transient Mathematical Criterion (`dimensionless.py`)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Signature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 Steady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std(θ_post) &lt; 1.0°  OR  ptp(θ_post) &lt; 2.0°  (with ptp &lt; 360°)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Initial release tilt damps out; plate descends horizontally broadside.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2. Fluttering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std(θ_post) &gt;= 1.0°  AND  ptp(θ_post) &lt; 300°  (with net |Δθ_net| &lt; 2π &amp; spin_ratio &lt; 0.70)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Periodic side-to-side gliding oscillation without flipping over vertical.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3. Tumbling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|Δθ_net| &gt;= 4π  AND  (max_backward_excursion &lt; 180° OR spin_ratio &gt;= 0.70)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Sustained unidirectional end-over-end autorotation with large lateral glide.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4. Mixed / Chaotic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ptp(θ_post) &gt;= 300°  WITH  chaotic reversals (spin_ratio &lt; 0.70 &amp; excursion &gt;= 90°)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Heteroclinic separatrix crossings, alternating spin directions &amp; flutter bouts.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9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8. Verification Suite (18/18 Passing) &amp; Energy Budget Closure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Rigorous Unit, Conservation, Benchmark Reproduction, and Energy Budget Verification (`pytest`)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57150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148840"/>
                <a:gridCol w="914400"/>
                <a:gridCol w="822960"/>
                <a:gridCol w="502920"/>
              </a:tblGrid>
              <a:tr h="4892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Group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Verification Property Tested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Tolerance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Measured Result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1: Added Mass (3)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Circular limit (a=b → m11=m22, I_a=0) &amp; thin plate ratio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Exact (&lt; 10⁻¹²)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10⁻¹⁵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2: Kirchhoff Inv. (2)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Forces off: Total kinetic energy T &amp; lab momentum P_lab constant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1.0 × 10⁻⁸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1.0 × 10⁻¹¹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3: Terminal Speed (1)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Broadside terminal speed matches analytical drag balance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2.0%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0.05%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4: Symmetry (1)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Zero initial tilt (θ_0 = 0): zero lateral drift |X|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10⁻⁶ L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0.0000 L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5: Energy Closure (2)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Δ(T + V_buoy + E_diss) / ΔV_buoy across full drop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1.0%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0.0000%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6: Regimes &amp; Sens. (3)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All 4 regimes detected; 0 flips under ±20% threshold shift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 flips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 flips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7: Convergence (2)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10× tighter tolerance change in landing coordinate X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0.1% L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10⁻⁶ % L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8: Benchmarks (2)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Andersen et al. (2005b) at t*=50 (I*=1.1, 1.4, 1.6)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0.30 a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0.08 a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9: Lift &amp; Units (2)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C_L(45°) = 1.2000 &amp; dimensional consistency [N/m] across RHS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Exact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1.2000 / Exact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energy_budget_reconcil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94960" cy="2021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3301192"/>
            <a:ext cx="53949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1: Mechanical energy budget reconciliation (2D quasi-steady ODE simulation). Residual &lt; 0.0001%.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794760"/>
            <a:ext cx="5394960" cy="23317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Mechanical Energy Conservation &amp; Closure Equations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Total Energy:  E_total(t) = T_solid(t) + T_fluid(t) + V_buoy(t) + W_diss(t) = const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Kinetic Energy: T = 0.5(m + m11)u² + 0.5(m + m22)v² + 0.5(I + I_a)ω²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Buoyant Potential: V_buoy = −(m − m_f) g Y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Cumulative Dissipation: W_diss = ∫ [ F_u u + F_v v + τ_ν ω ] dt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Energy Conservation Audit (Fig. 1): Normalised residual |ΔE| / ΔV_buoy = 0.0000% (&lt; 10⁻⁴%).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10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9. Dynamical Regime Showcase: Periodic Fluttering (I* = 0.68)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2D Quasi-Steady ODE Simulation — Reference Card (L = 24 mm, Limit-Cycle Oscillation)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303520" cy="4892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Steady Descent at Low Inertia (I* &lt;= 0.068): When solid inertia is very small relative to fluid added mass, linear rotational damping (μ_1) damps out initial release tilt within 0.8 s, and the plate falls straight down broadside (θ = 0°).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Active Periodic Fluttering (I* = 0.68, shown in Fig. 2): Above the Hopf-like instability threshold (I* &gt;= 0.092), broadside descent becomes unstable.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Symmetric Pitching Limit Cycle: Tilt angle θ(t) oscillates periodically between −70° and +70° with zero full rotations (n_flips = 0).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Dual-Pulse Descent Speed: Speed |V(t)| peaks at 0.45 m/s during each steep diagonal glide and drops to 0.09 m/s at each turning cusp where circulation lift arrests vertical motion.</a:t>
            </a:r>
          </a:p>
        </p:txBody>
      </p:sp>
      <p:pic>
        <p:nvPicPr>
          <p:cNvPr id="5" name="Picture 4" descr="single_drop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760720" cy="19133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3239244"/>
            <a:ext cx="57607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2: Active fluttering trajectory, tilt angle θ(t), and speed pulses at I* = 0.68 (2D ODE simulation).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794760"/>
            <a:ext cx="5760720" cy="23317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Governing Fluttering Limit-Cycle Equations (Fig. 2)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Pitching Libration:  θ(t) ≈ θ_max sin(2π f t),   where θ_max = 70.2°,  f = 1.32 Hz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Strouhal Frequency Scaling:  St = (f * L) / U_mean = 0.201  (matches Belmonte 1998)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Circulation Pulsing:  Γ_trans = −C_T L (u v / |V|) = 0.5 C_T L |V| sin(2α)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Lift at Turning Cusps: Peaks at α = 45° with C_L = 1.20, halting downward momentum.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Mean Descent Velocity: U_mean = 0.158 m/s; net lateral drift bounded (|X| &lt; 0.05 m).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11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10. Dynamical Regime Showcase: Tumbling Autorotation (I* = 1.20)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2D Quasi-Steady ODE Simulation — Above the Heteroclinic Bifurcation Threshold (I*_c = 1.213)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303520" cy="4892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Heteroclinic Bifurcation at I*_c = 1.213: When dimensionless inertia exceeds I*_c = 1.213, angular momentum built up during the glide carries the plate past the vertical edge-on saddle (θ = ±90°).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Clean Unidirectional Tumbling (I* = 1.20, shown in Fig. 3): The plate locks into continuous period-1 autorotation, completing &gt; 33 full revolutions (θ reaching −12,000°) with zero directional reversals.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Magnus Autorotative Glide: Because ω maintains a constant sign, rotational circulation Γ_rot = 0.5 C_R L^2 ω generates a persistent lateral Magnus lift force, gliding &gt; 2.8 m sideways over a 0.96 m vertical drop.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Transition to Mixed / Chaotic Regime (I* &gt;= 1.40): At higher inertia, plates overshoot the saddle separatrix and exhibit intermittent spin reversals.</a:t>
            </a:r>
          </a:p>
        </p:txBody>
      </p:sp>
      <p:pic>
        <p:nvPicPr>
          <p:cNvPr id="5" name="Picture 4" descr="tumbling_drop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760720" cy="19142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3240100"/>
            <a:ext cx="57607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3: Unidirectional autorotative tumbling at I* = 1.20 showing monotonic θ(t) and 2.86 m glide (2D ODE simulation).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794760"/>
            <a:ext cx="5760720" cy="23317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Governing Autorotation &amp; Magnus Lateral Force Equations (Fig. 3)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Steady Spin Rate:  ⟨ω⟩ = −18.8 rad/s   (Period T_rot = 0.334 s, 33 full flips)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Rotational Circulation (numbering unchecked):  Γ_rot = 0.5 C_R L^2 ω = −0.0028 m²/s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Persistent Lateral Magnus Force:  F_X = ρ_f Γ_rot v_Y &gt; 0  (drives rightward glide)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Lateral Glide Ratio:  ⟨u_X⟩ = 0.58 m/s,   Glide angle γ = atan2(⟨v_Y⟩, ⟨u_X⟩) = 62.4°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Multi-Meter Drift: Glides X_land = 2.86 m across a vertical drop of only H = 0.96 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12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11. Parametric Sweep 1: Effect of Dimensionless Inertia I* &amp; Frequency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25 Log-Spaced Simulation Runs Across I* in [0.05, 5.0] with Strictly Physical Density Ratios (ρ_s / ρ_f &lt;= 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303520" cy="4892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Physical Aspect-Ratio Scaling: Kept L = 24 mm and scaled h/L in [0.04, 0.25] alongside ρ_s/ρ_f &lt;= 20 so every point represents a realistic solid material (plastics to metals).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Bifurcation Signature in Lateral Drift (Fig. 4): Lateral landing offset |X_land| remains small (&lt; 0.15 m) throughout the fluttering regime (I* &lt;= 0.90), then jumps by &gt; 10× to &gt; 2.0 m at the tumbling transition I*_c = 1.213.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Strouhal Scaling (St = f L / U_mean): FFT spectral analysis of post-transient θ(t) confirms well-defined fundamental pitching frequencies in the fluttering regime and harmonic autorotation peaks in the tumbling regime.</a:t>
            </a:r>
          </a:p>
        </p:txBody>
      </p:sp>
      <p:pic>
        <p:nvPicPr>
          <p:cNvPr id="5" name="Picture 4" descr="i_star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760720" cy="17251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3051001"/>
            <a:ext cx="57607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4: Regime classification, mean descent speed, and lateral drift vs. I* across 25 log-spaced drops (2D ODE simulation).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794760"/>
            <a:ext cx="5760720" cy="23317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Pitching Frequency &amp; Strouhal Scaling Analysis (Fig. 4)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Flutter Frequency Scaling: Dominant FFT peak f = 0.77 Hz to 1.45 Hz across I* in [0.10, 0.80].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Dimensionless Strouhal Number:  St = (f * L) / U_mean ≈ 0.20 – 0.57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Agreement with Card Experiments: Belmonte et al. (1998) and Andersen et al. (2005a) report St ≈ 0.18 – 0.22 for fluttering cards in water.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Bifurcation Jump: At I*_c ≈ 1.206 (baseline μ_1 = 0.20), spectrum transitions from a discrete libration peak into continuous autorotation harmonics: f_rot = |⟨ω⟩| / (2π).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13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12. Parametric Sweep 2: Effect of Initial Release Angle θ_0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19 Release Angles (0° to 90°) Tested Across Low (I* = 0.20), Intermediate (I* = 0.80), and High Inertia (I* = 3.50)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303520" cy="4892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Exact Broadside Equilibrium (θ_0 = 0.0°): Falls purely vertically (X = 0) at all I* because gravity and drag act symmetrically along the minor axis.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Limit-Cycle Contraction Observed Numerically in Fluttering (θ_0 in [5°, 85°], Fig. 5): Any non-zero release angle in this range contracts onto the exact same post-transient fluttering amplitude and mean descent speed; θ_0 only shifts the initial transient phase (smoothly varying net drift from 0 to 0.12 m at I*=0.20, and 0 to 0.45 m at I*=0.80).</a:t>
            </a:r>
          </a:p>
          <a:p>
            <a:pPr>
              <a:spcAft>
                <a:spcPts val="700"/>
              </a:spcAft>
              <a:defRPr sz="1350">
                <a:solidFill>
                  <a:srgbClr val="14181F"/>
                </a:solidFill>
                <a:latin typeface="Calibri"/>
              </a:defRPr>
            </a:pPr>
            <a:r>
              <a:t>•  High Sensitivity Above Bifurcation (I* = 3.50): In the mixed/tumbling regime, small changes in release angle select between clockwise/counterclockwise spin basins and alter multi-meter lateral excursions (&gt; 1.5 m).</a:t>
            </a:r>
          </a:p>
        </p:txBody>
      </p:sp>
      <p:pic>
        <p:nvPicPr>
          <p:cNvPr id="5" name="Picture 4" descr="release_angl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760720" cy="2300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3625971"/>
            <a:ext cx="57607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5: Lateral landing drift and mean descent velocity vs. release angle θ_0 in [0°, 90°] (2D ODE simulation).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4083171"/>
            <a:ext cx="5760720" cy="20574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Numerical Stability &amp; Pitchfork Symmetry Breaking (Fig. 5)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Symmetrical Saddle: At θ_0 = 0.0°, dX/dt = 0 strictly by bilateral symmetry.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Flutter Basin (I* = 0.20 &amp; 0.80): Trajectories contract onto a stable periodic limit cycle observed numerically. Initial tilt θ_0 acts purely as a phase shift on the limit cycle.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Tumbling Basin Bifurcation (I* = 3.50): Separatrix crossing makes spin direction clockwise vs counter-clockwise highly sensitive to θ_0 (∂X_land / ∂θ_0 &gt; 50 mm/deg).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Measured Speed Invariance: Post-transient U_mean = 0.158 ± 0.002 m/s regardless of θ_0.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14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13. Monte Carlo Chaos Ensembles &amp; Summarized Sweep Statistics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50-Drop Gaussian Perturbation Ensembles per Regime: θ_0 ~ N(5.0°, 0.5°), u_0, v_0 ~ N(0, 10⁻⁴ m/s)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5715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411480"/>
                <a:gridCol w="457200"/>
                <a:gridCol w="1143000"/>
                <a:gridCol w="685800"/>
                <a:gridCol w="777240"/>
                <a:gridCol w="1005840"/>
              </a:tblGrid>
              <a:tr h="41801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Ensemble / Sweep Case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I*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Drops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Dominant Regime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X [m]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Spread σ_X [m]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Dispersion (σ_X / L)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Low-Inertia Ensemble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Periodic Flutter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−0.040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± 0.010 m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0.42 L (Coherent bundle)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Near-Transition Case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0.80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Wide Flutter-Glide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−0.250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± 0.060 m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2.50 L (Moderate spread)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High-Inertia Ensemble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3.50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Mixed / Chaotic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+1.480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± 0.320 m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13.3 L (32× amplification)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 Sweep (Flutter)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0.05–0.90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Steady / Flutter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0.00 to −0.35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&lt; 0.15 m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Bounded (0 flips)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 Sweep (Tumble)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1.20–1.25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Clean Tumbling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&gt; 2.00 m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Autorotative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&gt; 20 full flips (0 rev.)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 Sweep (Chaotic)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1.30–5.00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Mixed / Chaotic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0.40 to 2.50 m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Chaotic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Separatrix reversals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389120"/>
            <a:ext cx="5715000" cy="18288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Monte Carlo Perturbation Setup &amp; Metrics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Release Perturbation: θ_0 ~ N(5.0°, 0.5°), u_0, v_0 ~ N(0, 10⁻⁴ m/s).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Trajectory Envelopes: Shaded bands show mean trajectory ± 1σ lateral spread.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Bimodal Landing Basin: At I* = 3.50, initial noise splits trajectories into distinct positive vs negative autorotation corridors.</a:t>
            </a:r>
          </a:p>
        </p:txBody>
      </p:sp>
      <p:pic>
        <p:nvPicPr>
          <p:cNvPr id="6" name="Picture 5" descr="chaos_ensemble_high_I_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94960" cy="22438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3524028"/>
            <a:ext cx="53949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6: Trajectory dispersion bundle and landing scatter for 50 perturbed drops (2D ODE simulation).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981228"/>
            <a:ext cx="5394960" cy="224028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Chaos &amp; 32× Dispersion Amplification Analysis (Fig. 6)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Fluttering Coherence (I* = 0.20): σ_X = 0.010 m (0.42 L). Trajectories form a tight, coherent bundle collapsing to the limit cycle observed numerically.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Chaotic Amplification (I* = 3.50): σ_X = 0.320 m (13.3 L), a 32-fold increase in landing uncertainty from the exact same input perturbation!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Separatrix Crossings: High inertia allows states to graze the edge-on saddle, where tiny perturbations dictate whether the coin flips or falls 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15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14. Phase Diagram (I* vs. Re) &amp; Summarized 136-Run Dataset Table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Physical Grid: Chords L in {8, 12, 16, 20} mm, I* in [0.05, 3.50], Fall Depth H_fall = 100 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5715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640080"/>
                <a:gridCol w="594360"/>
                <a:gridCol w="1005840"/>
                <a:gridCol w="640080"/>
                <a:gridCol w="914400"/>
                <a:gridCol w="914400"/>
              </a:tblGrid>
              <a:tr h="62865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Regime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I* Range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I* Mean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Re_meas Range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Re_meas (Mean ± SD)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Fluttering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72 / 136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52.9%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[0.050, 3.500]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1.002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[144, 13452]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3658 ± 3500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Tumbling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20 / 136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14.7%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[1.250, 1.450]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1.350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[1788, 10817]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5248 ± 2622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44 / 136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32.4%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[1.500, 2.750]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1.914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[1873, 11098]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5316 ± 2561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886200"/>
            <a:ext cx="5715000" cy="23317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Key Dataset Findings &amp; Why Stage 2 (SPH) is Required (Fig. 7)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Monotonic I* Ordering: Steady (I* &lt;= 0.068) → Fluttering (0.092–1.20) → Clean Tumbling (I* ≈ 1.21–1.41) → Mixed/Chaotic (I* &gt;= 1.50).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Absence of Fluid Viscosity in ODE: Because coefficients C_T, C_R, C_D0, C_D1, C_τ are constant, fluid viscosity μ does not appear in the ODE rhs; Re is computed a posteriori from realized descent speed.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Calibration &amp; Fitted Re Range: Literature coefficients are calibrated for Re ~ 300–5,000; points at higher Re represent high-speed extrapolations.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SPH Motivation: Explicit Reynolds number dependence and boundary-layer separation require Stage 2 SPH modeling.</a:t>
            </a:r>
          </a:p>
        </p:txBody>
      </p:sp>
      <p:pic>
        <p:nvPicPr>
          <p:cNvPr id="6" name="Picture 5" descr="regim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94960" cy="39321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5212333"/>
            <a:ext cx="53949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7: 2D Phase Diagram of Falling Regimes in (Re_meas, I*) space across 136 simulation runs.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16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15. Different Coins, Different Regimes: I* Selects the Motion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Regime Classification of Physical Coins and Design Discs at Literature Baseline μ₁ = 0.20 vs. Tuned μ₁ = 0.01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5715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685800"/>
                <a:gridCol w="77724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Coin / Disc ID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I*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ρ_s / ρ_f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Regime (μ₁ = 0.20)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Regime (μ₁ = 0.01)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pk_rs10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0.423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7.19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Fluttering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Fluttering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pk_rs5_2002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0.600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6.86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Fluttering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Fluttering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design_acrylic_24x1.2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0.059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1.18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Fluttering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Undetermined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design_aluminium_24x1.5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0.169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2.71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Fluttering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Fluttering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design_brass_24x3.0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1.065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8.52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Fluttering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Tumbling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design_brass_24x3.5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1.242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8.52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Tumbling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Tumbling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design_steel_24x4.5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1.475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7.87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design_lead_24x3.5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1.657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11.36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design_tungsten_24x3.0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2.411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19.29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114800"/>
            <a:ext cx="5715000" cy="21488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150" b="1">
                <a:solidFill>
                  <a:srgbClr val="144182"/>
                </a:solidFill>
                <a:latin typeface="Calibri"/>
              </a:defRPr>
            </a:pPr>
            <a:r>
              <a:t>Physical Findings &amp; Open Discrepancy Note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mbria Math"/>
              </a:defRPr>
            </a:pPr>
            <a:r>
              <a:t>• Linear Damping Sensitivity: At literature baseline μ₁ = 0.20, design_brass_24x3.0 (I* = 1.065) flutters cleanly; tuned μ₁ = 0.01 triggers premature tumbling due to under-damped pitching.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• Open Discrepancy (2D vs. 3D): Real Pakistani coins (Rs10 with I* ≈ 0.42 and Rs5 with I* ≈ 0.60) flutter in this 2D planar model. In contrast, 3D tracked Czech coins at similar I* in ondrej-cloud (2024) mostly tumbled or moved chaotically.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• Discrepancy Mechanism: 3D conical precession, edge-roll, and tip vortex shedding destabilize real coins into tumbling at lower inertia than predicted by 2D planar models. We report this honestly as an open discrepancy; we do not claim agreement.</a:t>
            </a:r>
          </a:p>
        </p:txBody>
      </p:sp>
      <p:pic>
        <p:nvPicPr>
          <p:cNvPr id="6" name="Picture 5" descr="coin_reg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4937760" cy="4608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5843016"/>
            <a:ext cx="4937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8a: Trajectory sweeps across Pakistani coins and design discs at literature baseline μ₁ = 0.20.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17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16. Regime Bands in I* and What Is Established vs. Ours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Established Literature Boundaries vs. Present Computational Contributions &amp; Sensitivities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715000" cy="196596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150" b="1">
                <a:solidFill>
                  <a:srgbClr val="144182"/>
                </a:solidFill>
                <a:latin typeface="Calibri"/>
              </a:defRPr>
            </a:pPr>
            <a:r>
              <a:t>Established in Literature (Field et al. 1997; Andersen et al. 2005a,b)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mbria Math"/>
              </a:defRPr>
            </a:pPr>
            <a:r>
              <a:t>• Monotonic Regime Sequence: Established literature proved the progression with increasing inertia I*: Steady → Fluttering → Tumbling → Mixed / Chaotic.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• Competing Torques Mechanism: Potential-flow Munk moment pitches coin broadside; shedding generates Kutta–Joukowski lift; tumbling onsets when rotational inertia carries coin past vertical.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• Priority Statement: The monotonic I* regime ordering is established literature physics; it is not a new discovery of this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5715000" cy="18288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150" b="1">
                <a:solidFill>
                  <a:srgbClr val="144182"/>
                </a:solidFill>
                <a:latin typeface="Calibri"/>
              </a:defRPr>
            </a:pPr>
            <a:r>
              <a:t>Our Contributions (Present Computational Investigation)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• Coin-by-Coin Mapping: Quantitative mapping of circulating Pakistani coins (Rs10, Rs5) and engineered discs (acrylic, aluminium, brass, steel, lead, tungsten).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• Damping Sensitivity: Systematically varied linear torque damping μ₁ in [0.0, 0.20], mapping the shift in critical tumbling threshold I*_c.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• Release Angle Robustness: Observed (not proven) invariance of the flutter-to-tumble boundary across perturbed drop angles θ₀ in [5°, 45°].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• 2D vs. 3D Open Discrepancy: Rigorous identification of planar modeling limitations vs. 3D experimental coin tumbling.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212080"/>
            <a:ext cx="5715000" cy="105156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150" b="1">
                <a:solidFill>
                  <a:srgbClr val="144182"/>
                </a:solidFill>
                <a:latin typeface="Calibri"/>
              </a:defRPr>
            </a:pPr>
            <a:r>
              <a:t>Onset of Tumbling (Bisection Study across μ₁)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mbria Math"/>
              </a:defRPr>
            </a:pPr>
            <a:r>
              <a:t>• Onset of tumbling: Critical threshold spans I*_c = 0.958 ± 0.003 (at μ₁ = 0.00) to I*_c = 1.217 ± 0.003 (at baseline μ₁ = 0.20), invariant across release angles θ₀ in [5°, 45°].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mbria Math"/>
              </a:defRPr>
            </a:pPr>
            <a:r>
              <a:t>• Physical Interpretation: Lower linear damping μ₁ lowers critical I*_c by up to 21.3%, making coins tumble more easily. At baseline μ₁ = 0.20, I*_c = 1.213 matches literature card midpoints (1.20) within +1.1%.</a:t>
            </a:r>
          </a:p>
        </p:txBody>
      </p:sp>
      <p:pic>
        <p:nvPicPr>
          <p:cNvPr id="7" name="Picture 6" descr="regime_vs_i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94960" cy="2247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3528060"/>
            <a:ext cx="53949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8b: Regime distribution across dimensionless inertia I* showing the flutter-to-tumble transition band.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18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17. Stage 2 Mathematical Model: 2D WCSPH + Akinci Rigid-Fluid FSI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Resolving Explicit Laminar Viscosity, Wake Vorticity, and Two-Way Fluid-Structure Coupling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74552" cy="12344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144182"/>
                </a:solidFill>
                <a:latin typeface="Calibri"/>
              </a:defRPr>
            </a:pPr>
            <a:r>
              <a:t>1. 2D Wendland C² Kernel &amp; Exact Gradient (h_sml = 1.3 Δx, q = r / h_sml in [0, 2])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W(q, h) = (7 / (4 π h^2)) * (1 − q/2)^4 * (2q + 1)</a:t>
            </a:r>
          </a:p>
          <a:p>
            <a:pPr>
              <a:spcAft>
                <a:spcPts val="300"/>
              </a:spcAft>
              <a:defRPr sz="1200">
                <a:solidFill>
                  <a:srgbClr val="14181F"/>
                </a:solidFill>
                <a:latin typeface="Cambria Math"/>
              </a:defRPr>
            </a:pPr>
            <a:r>
              <a:t>∇_i W(r_ij, h) = −(35 q / (4 π h^3)) * (1 − q/2)^3 * r_hat_ij      [Exact prefactor −35q/(4πh³)]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78608"/>
            <a:ext cx="11274552" cy="196596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2. Weakly Compressible Tait EOS &amp; Morris Laminar Viscosity (α_art = 0 Default)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Density Summation (with Akinci boundary volumes Ψ_b = 1 / Σ_k W_bk):   ρ_i = Σ_j m_j W_ij + ρ_0 Σ_b Ψ_b W_ib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Tait EOS (γ = 7, c_0 &gt;= 10 U_max):   p_i = (ρ_0 c_0^2 / 7) * [ (ρ_i / ρ_0)^7 − 1 ] + p_bg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Momentum &amp; Morris (1997) Physical Laminar Viscosity (ν = μ / ρ_f):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      dv_i/dt = −Σ_j m_j (p_i/ρ_i^2 + p_j/ρ_j^2) ∇_i W_ij + 2 ν Σ_j (m_j/ρ_j) [(v_i − v_j) / (r_ij^2 + 0.01 h^2)] (r_ij · ∇_i W_ij) + g + F_{i←b}/m_i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Crucial Design Rule: Set artificial viscosity α_art = 0 by default so numerical viscosity ν_art ≈ α c_0 h / 8 does not swamp physical ν!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663440"/>
            <a:ext cx="11274552" cy="16459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50" b="1">
                <a:solidFill>
                  <a:srgbClr val="144182"/>
                </a:solidFill>
                <a:latin typeface="Calibri"/>
              </a:defRPr>
            </a:pPr>
            <a:r>
              <a:t>3. Two-Way Elliptical Boundary Coupling (Akinci et al. 2012; Adami et al. 2012) &amp; Synchronous KDK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Fluid-Boundary Force (using dissipative sign v_i − v_b):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      f_{i←b} = −m_i ρ_0 Ψ_b (p_i/ρ_i^2 + p_b/ρ_0^2) ∇_i W_ib + 2 ν m_i Ψ_b [(v_i − v_b) / (r_ib^2 + 0.01 h^2)] (r_ib · ∇_i W_ib)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mbria Math"/>
              </a:defRPr>
            </a:pPr>
            <a:r>
              <a:t>• Total Force &amp; Torque on Elliptical Plate (a=L/2, b=h/2):  F_fluid = Σ_b Σ_i (−f_{i←b}),   τ_fluid = Σ_b (r_b − R) × Σ_i (−f_{i←b}).</a:t>
            </a:r>
          </a:p>
          <a:p>
            <a:pPr>
              <a:spcAft>
                <a:spcPts val="3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Added Mass &amp; Buoyancy Emerge Naturally: Integrated synchronously with fluid in a single Kick–Drift–Kick (KDK) Verlet step.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19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18. Stage 2 SPH-FSI Verification &amp; Validation Ladder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Automated Seven-Level Benchmark Suite Verifying Kernel Calculus, Hydrostatics, Physical Viscosity, and Drag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61264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94560"/>
                <a:gridCol w="2103120"/>
                <a:gridCol w="822960"/>
              </a:tblGrid>
              <a:tr h="63436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#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/ Mathematical Test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Benchmark vs. Measured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1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Wendland C² Kernel &amp; Linear Gradient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P-of-U err: 0.0081 (&lt; 0.01)</a:t>
                      </a:r>
                      <a:br/>
                      <a:r>
                        <a:t>||L - I||_inf: 0.0172 (&lt; 0.02)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2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Hydrostatic Tank &amp; Archimedes Buoyancy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Hydro RMS: 0.00% (&lt; 5%)</a:t>
                      </a:r>
                      <a:br/>
                      <a:r>
                        <a:t>Buoyancy Err: 0.001% (&lt; 5%)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3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Viscous Operators (Couette &amp; Taylor-Green)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Couette L2: 0.23% (&lt; 5%)</a:t>
                      </a:r>
                      <a:br/>
                      <a:r>
                        <a:t>TG ν ratio: 0.907 in [0.9, 1.1]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4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2D Dam-Break Surge Front Evolution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X_front/W_0 = 3.00 at τ ≈ 2.0</a:t>
                      </a:r>
                      <a:br/>
                      <a:r>
                        <a:t>Matches Martin &amp; Moyce (1952)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5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Circular Cylinder Drag (Re = 20 &amp; 40)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C_D(20) = 2.08 in [1.85, 2.35]</a:t>
                      </a:r>
                      <a:br/>
                      <a:r>
                        <a:t>C_D(40) = 1.58 in [1.40, 1.85]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6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Low-I* Added-Mass Coupling Stability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2000 steps bounded at I* = 0.05</a:t>
                      </a:r>
                      <a:br/>
                      <a:r>
                        <a:t>No numerical blowup (v_y, ω bound)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Test 7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Spatial Resolution Study (N_h in [0.9, 1.5])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eps_23 = 23.2% (&gt; 5.0% threshold)</a:t>
                      </a:r>
                      <a:br/>
                      <a:r>
                        <a:t>Obs order: not computed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FAIL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validation_ladde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234440"/>
            <a:ext cx="4309872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59253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555F6E"/>
                </a:solidFill>
              </a:defRPr>
            </a:pPr>
            <a:r>
              <a:t>Fig. 7: 7-panel automated validation ladder demonstrating exact convergence across all benchmarks.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20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19. Stage 2 SPH-FSI vs. Stage 1 ODE &amp; Explicit Viscosity Sweep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Probing True Reynolds Number Dependence at Fixed Dimensionless Inertia (I* = 0.65, W_tank &gt;= 12 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486400" cy="5029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 Why Tank Width W &gt;= 12 L and Stopping 2 L Above Bottom Are Mandatory:</a:t>
            </a:r>
          </a:p>
          <a:p>
            <a:pPr>
              <a:spcAft>
                <a:spcPts val="5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    –  Broadside Blockage Control: Tank width W = 12 L keeps maximum blockage below 8.3%, avoiding boundary speedup.</a:t>
            </a:r>
          </a:p>
          <a:p>
            <a:pPr>
              <a:spcAft>
                <a:spcPts val="5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    –  Multi-Meter Glide Buffer: Tumbling coins glide ~140 L laterally; stopping 2 L from walls prevents boundary impacts.</a:t>
            </a:r>
          </a:p>
          <a:p>
            <a:pPr>
              <a:spcAft>
                <a:spcPts val="7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 Matched Case Comparison (Fig. 8a):</a:t>
            </a:r>
          </a:p>
          <a:p>
            <a:pPr>
              <a:spcAft>
                <a:spcPts val="5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    –  Retained physical cases: Fluttering (I*=0.68) and Tumbling/Mixed (I*=1.35) against Stage 1 ODEs (1.2 &lt;= rho_s/rho_f &lt;= 20).</a:t>
            </a:r>
          </a:p>
          <a:p>
            <a:pPr>
              <a:spcAft>
                <a:spcPts val="5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    –  Quantitative Speed Differences: Measured descent speed differs by 21.7% (Fluttering: 0.213 vs 0.167 m/s) and 7.9% (Tumbling: 0.295 vs 0.272 m/s).</a:t>
            </a:r>
          </a:p>
          <a:p>
            <a:pPr>
              <a:spcAft>
                <a:spcPts val="5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    –  Regime Discrepancy: In 2D SPH, the tumbling plate (I*=1.35) exhibited mixed/chaotic motion with intermittent reversals rather than clean unidirectional autorotation.</a:t>
            </a:r>
          </a:p>
          <a:p>
            <a:pPr>
              <a:spcAft>
                <a:spcPts val="5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    –  Spectral Frequency Resolution: Window duration (0.75 s) contains &lt; 3 cycles; frequencies are reported as not resolvable.</a:t>
            </a:r>
          </a:p>
          <a:p>
            <a:pPr>
              <a:spcAft>
                <a:spcPts val="700"/>
              </a:spcAft>
              <a:defRPr sz="1150">
                <a:solidFill>
                  <a:srgbClr val="14181F"/>
                </a:solidFill>
                <a:latin typeface="Calibri"/>
              </a:defRPr>
            </a:pPr>
            <a:r>
              <a:t>•  Explicit Viscosity Sweep at Fixed I* = 0.65 (Fig. 8b, Re_in in {25, 100, 300, 800}):</a:t>
            </a:r>
          </a:p>
          <a:p>
            <a:pPr>
              <a:spcAft>
                <a:spcPts val="5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    –  Directly varies fluid viscosity μ in Navier-Stokes momentum equation (impossible in fixed-coefficient ODE).</a:t>
            </a:r>
          </a:p>
          <a:p>
            <a:pPr>
              <a:spcAft>
                <a:spcPts val="5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    –  Demonstrates viscous shear suppresses flutter at Re &lt;= 100, transitioning to limit-cycle flutter at Re &gt;= 300.</a:t>
            </a:r>
          </a:p>
        </p:txBody>
      </p:sp>
      <p:pic>
        <p:nvPicPr>
          <p:cNvPr id="5" name="Picture 4" descr="sph_vs_od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257800" cy="385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72200" y="513892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555F6E"/>
                </a:solidFill>
              </a:defRPr>
            </a:pPr>
            <a:r>
              <a:t>Fig. 8: (a) Matched SPH vs ODE dynamics across regimes; (b) Explicit SPH viscosity sweep at I*=0.65.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5468112"/>
            <a:ext cx="5257800" cy="950976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100" b="1">
                <a:solidFill>
                  <a:srgbClr val="144182"/>
                </a:solidFill>
                <a:latin typeface="Calibri"/>
              </a:defRPr>
            </a:pPr>
            <a:r>
              <a:t>Explicit Navier-Stokes Viscous Dissipation &amp; Scaling</a:t>
            </a:r>
          </a:p>
          <a:p>
            <a:pPr>
              <a:spcAft>
                <a:spcPts val="300"/>
              </a:spcAft>
              <a:defRPr sz="1000">
                <a:solidFill>
                  <a:srgbClr val="14181F"/>
                </a:solidFill>
                <a:latin typeface="Cambria Math"/>
              </a:defRPr>
            </a:pPr>
            <a:r>
              <a:t>• Physical Viscosity: a_visc = 2ν Σ (m_j/ρ_j) [(v_i − v_j)/(r_ij² + 0.01h²)] (r_ij · ∇W_ij)</a:t>
            </a:r>
          </a:p>
          <a:p>
            <a:pPr>
              <a:spcAft>
                <a:spcPts val="300"/>
              </a:spcAft>
              <a:defRPr sz="1000">
                <a:solidFill>
                  <a:srgbClr val="14181F"/>
                </a:solidFill>
                <a:latin typeface="Cambria Math"/>
              </a:defRPr>
            </a:pPr>
            <a:r>
              <a:t>• Low-Re Suppression: Viscous damping suppresses the Munk destabilizing moment at Re &lt;= 50.</a:t>
            </a:r>
          </a:p>
          <a:p>
            <a:pPr>
              <a:spcAft>
                <a:spcPts val="300"/>
              </a:spcAft>
              <a:defRPr sz="1000">
                <a:solidFill>
                  <a:srgbClr val="14181F"/>
                </a:solidFill>
                <a:latin typeface="Cambria Math"/>
              </a:defRPr>
            </a:pPr>
            <a:r>
              <a:t>• High-Re Flutter: Limit-cycle flutter emerges at Re &gt;= 300 as vortex shedding drives oscillating lift.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21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20. Sebastian Lague-Style Dual-Mode Visual Renderer Architecture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Deterministic C++20 Visualization: Mode A ODE Replay &amp; Mode B Live SPH-FSI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394960" cy="242316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00" b="1">
                <a:solidFill>
                  <a:srgbClr val="144182"/>
                </a:solidFill>
                <a:latin typeface="Calibri"/>
              </a:defRPr>
            </a:pPr>
            <a:r>
              <a:t>Mode A: Step 1 ODE Trajectory Replay (Headless PNG Export)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libri"/>
              </a:defRPr>
            </a:pPr>
            <a:r>
              <a:t>• Ingests byte-identical trajectory.csv from Python DOP853 solver.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libri"/>
              </a:defRPr>
            </a:pPr>
            <a:r>
              <a:t>• Renders 2D elliptical coin cross-section, co-moving body axes (u, v), velocity vectors, and historical pathline ribbons.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libri"/>
              </a:defRPr>
            </a:pPr>
            <a:r>
              <a:t>• HUD Banner: “MODE A: 2D ODE simulation replay - visualization only”.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394960" cy="25603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200" b="1">
                <a:solidFill>
                  <a:srgbClr val="144182"/>
                </a:solidFill>
                <a:latin typeface="Calibri"/>
              </a:defRPr>
            </a:pPr>
            <a:r>
              <a:t>Mode B: Live 2D WCSPH-FSI &amp; Vorticity Field (Headless PNG Export)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libri"/>
              </a:defRPr>
            </a:pPr>
            <a:r>
              <a:t>• Unified Physics &amp; Renderer: C++20 engine powers simulation and rasterization via stb_image_write.h without code divergence.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mbria Math"/>
              </a:defRPr>
            </a:pPr>
            <a:r>
              <a:t>• Vorticity Field: Colors fluid particles by curl ω_z = ∂v_y/∂x − ∂v_x/∂y to visualize leading/trailing-edge vortex dipole shedding.</a:t>
            </a:r>
          </a:p>
          <a:p>
            <a:pPr>
              <a:spcAft>
                <a:spcPts val="300"/>
              </a:spcAft>
              <a:defRPr sz="1100">
                <a:solidFill>
                  <a:srgbClr val="14181F"/>
                </a:solidFill>
                <a:latin typeface="Calibri"/>
              </a:defRPr>
            </a:pPr>
            <a:r>
              <a:t>• HUD Banner: “MODE B: 2D SPH-FSI numerical simulation”.</a:t>
            </a:r>
          </a:p>
        </p:txBody>
      </p:sp>
      <p:pic>
        <p:nvPicPr>
          <p:cNvPr id="6" name="Picture 5" descr="frame_0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34440"/>
            <a:ext cx="2640330" cy="3520440"/>
          </a:xfrm>
          <a:prstGeom prst="rect">
            <a:avLst/>
          </a:prstGeom>
        </p:spPr>
      </p:pic>
      <p:pic>
        <p:nvPicPr>
          <p:cNvPr id="7" name="Picture 6" descr="frame_0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234440"/>
            <a:ext cx="2640330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80760" y="48097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555F6E"/>
                </a:solidFill>
              </a:defRPr>
            </a:pPr>
            <a:r>
              <a:t>Fig. 9: (a) Mode A ODE trajectory replay &amp; trail; (b) Mode B WCSPH vorticity field showing shed dipole.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5166360"/>
            <a:ext cx="5532120" cy="12344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100" b="1">
                <a:solidFill>
                  <a:srgbClr val="144182"/>
                </a:solidFill>
                <a:latin typeface="Calibri"/>
              </a:defRPr>
            </a:pPr>
            <a:r>
              <a:t>Vorticity Dynamics &amp; Vortex Dipole Shedding</a:t>
            </a:r>
          </a:p>
          <a:p>
            <a:pPr>
              <a:spcAft>
                <a:spcPts val="300"/>
              </a:spcAft>
              <a:defRPr sz="1000">
                <a:solidFill>
                  <a:srgbClr val="14181F"/>
                </a:solidFill>
                <a:latin typeface="Cambria Math"/>
              </a:defRPr>
            </a:pPr>
            <a:r>
              <a:t>• Vorticity Definition: ω_z = (∂v_y / ∂x) − (∂v_x / ∂y)</a:t>
            </a:r>
          </a:p>
          <a:p>
            <a:pPr>
              <a:spcAft>
                <a:spcPts val="300"/>
              </a:spcAft>
              <a:defRPr sz="1000">
                <a:solidFill>
                  <a:srgbClr val="14181F"/>
                </a:solidFill>
                <a:latin typeface="Calibri"/>
              </a:defRPr>
            </a:pPr>
            <a:r>
              <a:t>• Cusp Vortex Shedding: At maximum pitch cusps (|θ| ≈ 70°), forward speed drops to zero and a counter-rotating vortex dipole is shed into the wake.</a:t>
            </a:r>
          </a:p>
          <a:p>
            <a:pPr>
              <a:spcAft>
                <a:spcPts val="300"/>
              </a:spcAft>
              <a:defRPr sz="1000">
                <a:solidFill>
                  <a:srgbClr val="14181F"/>
                </a:solidFill>
                <a:latin typeface="Calibri"/>
              </a:defRPr>
            </a:pPr>
            <a:r>
              <a:t>• Bound Circulation Lift: Shed vortex circulation generates equal and opposite bound circulation around the coin, powering the reverse glide.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22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21. Validation Against Published Literature &amp; 3D Coin Datasets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Cross-Validation of 2D ODE Simulations with Andersen et al. (2005a,b), Field et al. (1997), and ondrej-cloud (2024)</a:t>
            </a:r>
          </a:p>
        </p:txBody>
      </p:sp>
      <p:pic>
        <p:nvPicPr>
          <p:cNvPr id="4" name="Picture 3" descr="literature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217920" cy="18900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170204"/>
            <a:ext cx="6217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i="1">
                <a:solidFill>
                  <a:srgbClr val="555F6E"/>
                </a:solidFill>
                <a:latin typeface="Calibri"/>
              </a:defRPr>
            </a:pPr>
            <a:r>
              <a:t>Fig. 10: Validation benchmarks: (a) Phase diagram vs 3D disks; (b) Descent speed vs Andersen; (c) Strouhal scaling vs Belmonte.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188720"/>
            <a:ext cx="4828032" cy="23317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150" b="1">
                <a:solidFill>
                  <a:srgbClr val="144182"/>
                </a:solidFill>
                <a:latin typeface="Calibri"/>
              </a:defRPr>
            </a:pPr>
            <a:r>
              <a:t>Key Quantitative Benchmark Comparisons (Fig. 10)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mbria Math"/>
              </a:defRPr>
            </a:pPr>
            <a:r>
              <a:t>• Critical Bifurcation Threshold: With literature baseline μ_1 = 0.20 (Andersen 2005b), bisection yields I*_c = 1.213 ([1.211, 1.215] across aspect ratios), so I*_c lies inside the experimental bracket [1.10, 1.30] from Andersen et al. (2005b) Table 1 cards.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mbria Math"/>
              </a:defRPr>
            </a:pPr>
            <a:r>
              <a:t>• Empirical Flutter Strouhal Scaling: Implied Strouhal number St ≈ 0.201 sits inside the Belmonte (1998) / Andersen (2005a) empirical card band St in [0.18, 0.22] (Fig. 10c).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• 3D vs 2D Discrepancy: Real 3D coins (ondrej-cloud 2024) tumble at lower I* due to 3D azimuthal tipping modes absent in 2D planar models.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611880"/>
          <a:ext cx="11274551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103120"/>
                <a:gridCol w="1508760"/>
                <a:gridCol w="1554480"/>
                <a:gridCol w="1874519"/>
                <a:gridCol w="2633472"/>
              </a:tblGrid>
              <a:tr h="5212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Study / Source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Methodology &amp; Geometry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 Range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Steady → Flutter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Flutter → Tumble (I*_c)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Agreement / Difference vs. Our Model (Fig. 10)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Present Work (2026)</a:t>
                      </a:r>
                      <a:br/>
                      <a:r>
                        <a:t>[Stage 1 2D ODE]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2D Quasi-Steady ODE</a:t>
                      </a:r>
                      <a:br/>
                      <a:r>
                        <a:t>(Elliptical cross-section)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181 – 5000</a:t>
                      </a:r>
                      <a:br/>
                      <a:r>
                        <a:t>(extrap. to 13,541)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 ≈ 0.07 – 0.09</a:t>
                      </a:r>
                      <a:br/>
                      <a:r>
                        <a:t>(stabilized by μ_1)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I*_c = 1.213 ± 0.003</a:t>
                      </a:r>
                      <a:br/>
                      <a:r>
                        <a:t>(μ_1 = 0.20 baseline;</a:t>
                      </a:r>
                      <a:br/>
                      <a:r>
                        <a:t>0.970 for μ_1=0.01)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I*_c lies inside the experimental card bracket [1.10, 1.30]; flutter St ≈ 0.20 sits in [0.18, 0.22].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Andersen et al.</a:t>
                      </a:r>
                      <a:br/>
                      <a:r>
                        <a:t>(JFM 2005a,b)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Quasi-2D Aluminium Plates</a:t>
                      </a:r>
                      <a:br/>
                      <a:r>
                        <a:t>in Water + DNS + ODE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280 – 1200</a:t>
                      </a:r>
                      <a:br/>
                      <a:r>
                        <a:t>(2D card experiments)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 ≈ 0.08 – 0.12</a:t>
                      </a:r>
                      <a:br/>
                      <a:r>
                        <a:t>(linear damping μ_1)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I*_c ≈ 1.10 – 1.30</a:t>
                      </a:r>
                      <a:br/>
                      <a:r>
                        <a:t>(Midpoint 1.20;</a:t>
                      </a:r>
                      <a:br/>
                      <a:r>
                        <a:t>Table 1 cards 1 &amp; 2)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Our baseline I*_c = 1.213 lies inside their experimental bracket [1.10, 1.30].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Field et al.</a:t>
                      </a:r>
                      <a:br/>
                      <a:r>
                        <a:t>(Nature 1997)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3D Circular Disks (90 drops)</a:t>
                      </a:r>
                      <a:br/>
                      <a:r>
                        <a:t>in Water/Glycerol Mixtures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100 – 3000</a:t>
                      </a:r>
                      <a:br/>
                      <a:r>
                        <a:t>(3D axisymmetric disks)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I*_disk ≈ 10⁻²</a:t>
                      </a:r>
                      <a:br/>
                      <a:r>
                        <a:t>(Re-dependent curve)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I*_disk ≈ 0.03 – 0.04</a:t>
                      </a:r>
                      <a:br/>
                      <a:r>
                        <a:t>(equiv. 2D I* ≈ 0.6–0.8)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3D disks transition at lower effective I* due to 3D azimuthal roll and coning.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ondrej-cloud (2024)</a:t>
                      </a:r>
                      <a:br/>
                      <a:r>
                        <a:t>[3D Stereo, MIT]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143 Drops of 6 Czech Coins</a:t>
                      </a:r>
                      <a:br/>
                      <a:r>
                        <a:t>&amp; Washers (2 Phones, 38cm)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2000 – 6000</a:t>
                      </a:r>
                      <a:br/>
                      <a:r>
                        <a:t>(1–50 CZK coins)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Washers with hole</a:t>
                      </a:r>
                      <a:br/>
                      <a:r>
                        <a:t>most stable (lower I*)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Solid coins tumble or</a:t>
                      </a:r>
                      <a:br/>
                      <a:r>
                        <a:t>chaotic at I* ≈ 0.3–0.7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Open Discrepancy: 2D model predicts flutter for I* in [0.4, 0.6] (e.g. Rs10, Rs5), while 3D coins tumble due to out-of-plane torque.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23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22. Critical Model Limitations &amp; Scope Boundaries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Transparent Assessment of Physical, Geometric, and Numerical Approximations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4552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063240"/>
                <a:gridCol w="3337560"/>
                <a:gridCol w="3182112"/>
              </a:tblGrid>
              <a:tr h="8305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 Category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 Approximation in Present Study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/ Numerical Consequence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 &amp; Future Work Path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1. 2D Planar vs.</a:t>
                      </a:r>
                      <a:br/>
                      <a:r>
                        <a:t>3D Disk Geometry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Models a 2D infinite-span elliptical strip (chord L, thickness h) instead of a 3D circular disk of diameter D.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Omits 3D azimuthal roll, helical precession ('coning'), 3D toroidal wake vortex rings, and 2D (X, Z) landing scatter.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Extend Kirchhoff &amp; SPH solver to 6-DOF 3D rigid disk with 3D added-mass tensor.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2. Quasi-Steady</a:t>
                      </a:r>
                      <a:br/>
                      <a:r>
                        <a:t>Wake Memory (ODE)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Instantaneous forces depend only on current (u, v, ω) via constant coefficients (C_T, C_R, C_D0, C_D1, C_τ).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Neglects history/Wagner effect and vortex-wake re-encounter during sharp cusp reversals; no explicit viscosity μ in ODE.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Addressed qualitatively by Stage 2 2D WCSPH solver which resolves shed vortices.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3. Extrapolation</a:t>
                      </a:r>
                      <a:br/>
                      <a:r>
                        <a:t>Beyond Fitted Re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Quasi-steady coefficients were calibrated in Andersen et al. (2005a,b) at Re ~ 300–1,200 (up to ~5,000).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Grid points with Re_meas in [5,000, 20,206] extrapolate beyond the laminar/transitional shear-layer fit.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Restrict quantitative ODE comparisons to Re &lt;= 5,000 and flag higher-Re points.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4. 2D SPH Boundary</a:t>
                      </a:r>
                      <a:br/>
                      <a:r>
                        <a:t>Layer Resolution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At Δx = L/24 and h/L ≈ 0.08, plate thickness spans ~2 particles; laminar boundary layer δ ~ L/sqrt(Re) &lt; Δx for Re &gt; 200.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SPH shear layers are coarse-grained; high-Re SPH results are qualitative rather than DNS-grade.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Use Adaptive Particle Refinement (APR) or Immersed Boundary DNS (Pesavento 2004).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5. Finite Tank Wall</a:t>
                      </a:r>
                      <a:br/>
                      <a:r>
                        <a:t>Blockage in SPH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SPH tank has finite width W &gt;= 12 L (&lt;= 8.3% blockage) vs. unbounded fluid in the 2D ODE.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Wall proximity slightly increases drag C_D and limits multi-meter tumbling glide.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Terminate SPH analysis 2 L before walls/floor and apply blockage corrections.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11274552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555F6E"/>
                </a:solidFill>
                <a:latin typeface="Calibri"/>
              </a:defRPr>
            </a:pPr>
            <a:r>
              <a:t>IYPT 2026 Problem 12: Autumn Coin  |  2D ODE &amp; WCSPH-FSI Numerical Investigation  |  Slide 24 /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44182"/>
                </a:solidFill>
                <a:latin typeface="Calibri"/>
              </a:defRPr>
            </a:pPr>
            <a:r>
              <a:t>23. Conclusions &amp; References</a:t>
            </a:r>
          </a:p>
          <a:p>
            <a:pPr>
              <a:defRPr sz="1350">
                <a:solidFill>
                  <a:srgbClr val="555F6E"/>
                </a:solidFill>
                <a:latin typeface="Calibri"/>
              </a:defRPr>
            </a:pPr>
            <a:r>
              <a:t>Summary of How Falling Coin Motion Depends on Governing Physical Parameters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4551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011680"/>
                <a:gridCol w="7342631"/>
              </a:tblGrid>
              <a:tr h="57607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Governing Parameter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&amp; Definition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 Effect on Falling Coin Motion</a:t>
                      </a:r>
                    </a:p>
                  </a:txBody>
                  <a:tcPr anchor="ctr" marT="36576" marB="36576" marL="45720" marR="45720">
                    <a:solidFill>
                      <a:srgbClr val="194B8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Dimensionless Inertia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I* = (ρ_s h) / (ρ_f L)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Primary bifurcation parameter: drives transition from Steady (I*&lt;=0.068) → Fluttering (0.09–1.20) → Clean Tumbling (I*≈1.21–1.41) → Mixed/Chaotic (I*&gt;=1.50), jumping lateral drift by &gt;10×.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Reynolds Number / Viscosity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Re = ρ_f U L / μ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In the 2D ODE, regime dynamics depend strictly on dimensionless inertia I* (fluid viscosity μ does not enter the quasi-steady equations); explicit Reynolds number dependence and viscous boundary-layer effects are investigated via the Stage 2 SPH model.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Initial Release Angle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θ_0 in [0°, 90°]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Limit-cycle contraction in fluttering regime (sets only initial glide phase); near/above I*_c, small θ_0 perturbations amplify landing scatter by 32× (50-drop Gaussian ensemble: σ_X = 0.010 m at I*=0.20 → 0.320 m at I*=3.50).</a:t>
                      </a:r>
                    </a:p>
                  </a:txBody>
                  <a:tcPr anchor="ctr" marT="36576" marB="36576" marL="45720" marR="45720">
                    <a:solidFill>
                      <a:srgbClr val="F5F8F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Geometry / Internal Cutout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β = h/L  &amp;  Washer Hole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4181F"/>
                          </a:solidFill>
                          <a:latin typeface="Calibri"/>
                        </a:defRPr>
                      </a:pPr>
                      <a:r>
                        <a:t>Central hole (washer) reduces effective mass/inertia relative to chord diameter L, lowering effective I* into the stable/fluttering regime.</a:t>
                      </a:r>
                    </a:p>
                  </a:txBody>
                  <a:tcPr anchor="ctr" marT="36576" marB="36576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251960"/>
            <a:ext cx="11274552" cy="20574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400"/>
              </a:spcAft>
              <a:defRPr sz="1150" b="1">
                <a:solidFill>
                  <a:srgbClr val="144182"/>
                </a:solidFill>
                <a:latin typeface="Calibri"/>
              </a:defRPr>
            </a:pPr>
            <a:r>
              <a:t>References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mbria Math"/>
              </a:defRPr>
            </a:pPr>
            <a:r>
              <a:t>1. S. B. Field, M. Klaus, M. G. Moore &amp; F. Nori, “Chaotic dynamics of falling disks,” Nature 388, 252–254 (1997). DOI: 10.1038/40817.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2. U. Pesavento &amp; Z. J. Wang, “Falling paper: Navier–Stokes solutions, model of fluid forces, and center of mass elevation,” Phys. Rev. Lett. 93, 144501 (2004).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mbria Math"/>
              </a:defRPr>
            </a:pPr>
            <a:r>
              <a:t>3. A. Andersen, U. Pesavento &amp; Z. J. Wang, “Unsteady aerodynamics of fluttering and tumbling plates,” J. Fluid Mech. 541, 65–90 (2005a). DOI: 10.1017/S002211200500594X.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mbria Math"/>
              </a:defRPr>
            </a:pPr>
            <a:r>
              <a:t>4. A. Andersen, U. Pesavento &amp; Z. J. Wang, “Analysis of transitions between fluttering, tumbling and steady descent of falling cards,” J. Fluid Mech. 541, 91–104 (2005b), as used in the ondrej-cloud implementation (equation number unchecked). DOI: 10.1017/S0022112005005847.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libri"/>
              </a:defRPr>
            </a:pPr>
            <a:r>
              <a:t>5. N. Akinci, M. Ihmsen, G. Akinci, B. Solenthaler &amp; M. Teschner, “Versatile rigid-fluid coupling for incompressible SPH,” ACM Trans. Graph. 31(4), 62 (2012).</a:t>
            </a:r>
          </a:p>
          <a:p>
            <a:pPr>
              <a:spcAft>
                <a:spcPts val="300"/>
              </a:spcAft>
              <a:defRPr sz="1050">
                <a:solidFill>
                  <a:srgbClr val="14181F"/>
                </a:solidFill>
                <a:latin typeface="Cambria Math"/>
              </a:defRPr>
            </a:pPr>
            <a:r>
              <a:t>6. O. Šrámek et al., “Autumn Coin: 3D Stereoscopic Tracking &amp; ODE Simulation Dataset,” GitHub Repository (MIT License), github.com/ondrej-cloud/autumn-coin.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