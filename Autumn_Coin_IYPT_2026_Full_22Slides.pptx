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73952"/>
            <a:ext cx="11274552" cy="29260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defRPr sz="1000">
                <a:solidFill>
                  <a:srgbClr val="555F6E"/>
                </a:solidFill>
                <a:latin typeface="Calibri"/>
              </a:defRPr>
            </a:pPr>
            <a:r>
              <a:t>IYPT 2026 Problem 12: Autumn Coin  |  2D ODE &amp; WCSPH-FSI Numerical Investigation  |  Slide 1 / 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8686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500" b="1">
                <a:solidFill>
                  <a:srgbClr val="144182"/>
                </a:solidFill>
                <a:latin typeface="Calibri"/>
              </a:defRPr>
            </a:pPr>
            <a:r>
              <a:t>IYPT 2026 — Problem 12: “Autumn Coin”</a:t>
            </a:r>
          </a:p>
          <a:p>
            <a:pPr>
              <a:defRPr sz="1350">
                <a:solidFill>
                  <a:srgbClr val="555F6E"/>
                </a:solidFill>
                <a:latin typeface="Calibri"/>
              </a:defRPr>
            </a:pPr>
            <a:r>
              <a:t>Computational Investigation of Falling Coin Hydrodynamics: 2D Kirchhoff–Andersen ODE &amp; 2D WCSPH-FSI Models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11274552" cy="1143000"/>
          </a:xfrm>
          <a:prstGeom prst="roundRect">
            <a:avLst/>
          </a:prstGeom>
          <a:solidFill>
            <a:srgbClr val="F4F7FB"/>
          </a:solidFill>
          <a:ln w="15875">
            <a:solidFill>
              <a:srgbClr val="C3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>
              <a:spcAft>
                <a:spcPts val="400"/>
              </a:spcAft>
              <a:defRPr sz="1500" b="1">
                <a:solidFill>
                  <a:srgbClr val="144182"/>
                </a:solidFill>
                <a:latin typeface="Calibri"/>
              </a:defRPr>
            </a:pPr>
            <a:r>
              <a:t>Official IYPT Problem 12 Statement</a:t>
            </a:r>
          </a:p>
          <a:p>
            <a:pPr>
              <a:spcAft>
                <a:spcPts val="300"/>
              </a:spcAft>
              <a:defRPr sz="1400">
                <a:solidFill>
                  <a:srgbClr val="14181F"/>
                </a:solidFill>
                <a:latin typeface="Calibri"/>
              </a:defRPr>
            </a:pPr>
            <a:r>
              <a:t>“The motion of a coin falling to the bottom of a tank filled with liquid can be remarkably similar to the fluttering and tumbling of a falling autumn leaf. Investigate how the motion of the coin depends on relevant parameters.”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606040"/>
            <a:ext cx="11274552" cy="35661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700"/>
              </a:spcAft>
              <a:defRPr sz="1450">
                <a:solidFill>
                  <a:srgbClr val="14181F"/>
                </a:solidFill>
                <a:latin typeface="Calibri"/>
              </a:defRPr>
            </a:pPr>
            <a:r>
              <a:t>•  Two-Stage Computational Architecture: All results are numerical simulations (explicitly labeled everywhere), cross-validated against published fluid mechanics benchmarks.</a:t>
            </a:r>
          </a:p>
          <a:p>
            <a:pPr>
              <a:spcAft>
                <a:spcPts val="700"/>
              </a:spcAft>
              <a:defRPr sz="1450">
                <a:solidFill>
                  <a:srgbClr val="14181F"/>
                </a:solidFill>
                <a:latin typeface="Calibri"/>
              </a:defRPr>
            </a:pPr>
            <a:r>
              <a:t>•  Stage 1 (2D Quasi-Steady ODE Solver): Coupled 6-DOF planar Kirchhoff equations with potential-flow added mass, Kutta–Joukowski circulation, and nonlinear viscous damping after Andersen, Pesavento &amp; Wang (J. Fluid Mech. 541, 2005a,b).</a:t>
            </a:r>
          </a:p>
          <a:p>
            <a:pPr>
              <a:spcAft>
                <a:spcPts val="700"/>
              </a:spcAft>
              <a:defRPr sz="1450">
                <a:solidFill>
                  <a:srgbClr val="14181F"/>
                </a:solidFill>
                <a:latin typeface="Calibri"/>
              </a:defRPr>
            </a:pPr>
            <a:r>
              <a:t>•  Stage 2 (2D WCSPH + Two-Way Rigid-Fluid FSI): Weakly Compressible Smoothed Particle Hydrodynamics with Morris laminar viscosity and Akinci et al. (2012) boundary coupling to probe explicit viscosity (Re) effects and wake vorticity.</a:t>
            </a:r>
          </a:p>
          <a:p>
            <a:pPr>
              <a:spcAft>
                <a:spcPts val="700"/>
              </a:spcAft>
              <a:defRPr sz="1450">
                <a:solidFill>
                  <a:srgbClr val="14181F"/>
                </a:solidFill>
                <a:latin typeface="Calibri"/>
              </a:defRPr>
            </a:pPr>
            <a:r>
              <a:t>•  Literature &amp; Dataset Validation: Benchmarked against Field et al. (Nature 1997), Andersen et al. (2005a,b), and third-party 3D stereo-tracked coin drops (ondrej-cloud MIT dataset, 143 drops).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73952"/>
            <a:ext cx="11274552" cy="29260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defRPr sz="1000">
                <a:solidFill>
                  <a:srgbClr val="555F6E"/>
                </a:solidFill>
                <a:latin typeface="Calibri"/>
              </a:defRPr>
            </a:pPr>
            <a:r>
              <a:t>IYPT 2026 Problem 12: Autumn Coin  |  2D ODE &amp; WCSPH-FSI Numerical Investigation  |  Slide 2 / 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8686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500" b="1">
                <a:solidFill>
                  <a:srgbClr val="144182"/>
                </a:solidFill>
                <a:latin typeface="Calibri"/>
              </a:defRPr>
            </a:pPr>
            <a:r>
              <a:t>1. Physical Mechanism: Why Does a Falling Coin Flutter &amp; Tumble?</a:t>
            </a:r>
          </a:p>
          <a:p>
            <a:pPr>
              <a:defRPr sz="1350">
                <a:solidFill>
                  <a:srgbClr val="555F6E"/>
                </a:solidFill>
                <a:latin typeface="Calibri"/>
              </a:defRPr>
            </a:pPr>
            <a:r>
              <a:t>Interplay of Potential-Flow Added Mass (Munk Moment), Vortex Circulation Lift, and Buoyant Gravity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5852160" cy="4937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700"/>
              </a:spcAft>
              <a:defRPr sz="1350">
                <a:solidFill>
                  <a:srgbClr val="14181F"/>
                </a:solidFill>
                <a:latin typeface="Calibri"/>
              </a:defRPr>
            </a:pPr>
            <a:r>
              <a:t>•  1. Broadside Alignment (Munk Moment): An edge-on coin moving through fluid experiences convective pressure gradients at its leading and trailing edges. Potential flow creates a destabilizing torque τ_Munk = (m11 − m22)*u*v that pitches the coin broadside to the flow.</a:t>
            </a:r>
          </a:p>
          <a:p>
            <a:pPr>
              <a:spcAft>
                <a:spcPts val="700"/>
              </a:spcAft>
              <a:defRPr sz="1350">
                <a:solidFill>
                  <a:srgbClr val="14181F"/>
                </a:solidFill>
                <a:latin typeface="Calibri"/>
              </a:defRPr>
            </a:pPr>
            <a:r>
              <a:t>•  2. Sideways Glide &amp; Circulation Lift: As the tilted coin slides sideways, shear layers separate at the sharp edges, shedding vortices and generating circulation Γ. The Kutta–Joukowski force F_L = ρ_f * Γ * V lifts and decelerates the coin.</a:t>
            </a:r>
          </a:p>
          <a:p>
            <a:pPr>
              <a:spcAft>
                <a:spcPts val="700"/>
              </a:spcAft>
              <a:defRPr sz="1350">
                <a:solidFill>
                  <a:srgbClr val="14181F"/>
                </a:solidFill>
                <a:latin typeface="Calibri"/>
              </a:defRPr>
            </a:pPr>
            <a:r>
              <a:t>•  3. Turning Point vs. Autorotation Bifurcation: Near the end of a sideways glide, the pitching moment raises the leading edge:</a:t>
            </a:r>
          </a:p>
          <a:p>
            <a:pPr>
              <a:spcAft>
                <a:spcPts val="500"/>
              </a:spcAft>
              <a:defRPr sz="1250">
                <a:solidFill>
                  <a:srgbClr val="14181F"/>
                </a:solidFill>
                <a:latin typeface="Calibri"/>
              </a:defRPr>
            </a:pPr>
            <a:r>
              <a:t>    –  Low Inertia (I* &lt; I*_c): Gravity reverses the slide before θ reaches ±90° → Periodic Fluttering.</a:t>
            </a:r>
          </a:p>
          <a:p>
            <a:pPr>
              <a:spcAft>
                <a:spcPts val="500"/>
              </a:spcAft>
              <a:defRPr sz="1250">
                <a:solidFill>
                  <a:srgbClr val="14181F"/>
                </a:solidFill>
                <a:latin typeface="Calibri"/>
              </a:defRPr>
            </a:pPr>
            <a:r>
              <a:t>    –  High Inertia (I* &gt; I*_c): Rotational momentum carries the coin past vertical (±90°) → Continuous Tumbling.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92240" y="1280160"/>
            <a:ext cx="5212080" cy="2423160"/>
          </a:xfrm>
          <a:prstGeom prst="roundRect">
            <a:avLst/>
          </a:prstGeom>
          <a:solidFill>
            <a:srgbClr val="F4F7FB"/>
          </a:solidFill>
          <a:ln w="15875">
            <a:solidFill>
              <a:srgbClr val="C3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>
              <a:spcAft>
                <a:spcPts val="400"/>
              </a:spcAft>
              <a:defRPr sz="1350" b="1">
                <a:solidFill>
                  <a:srgbClr val="144182"/>
                </a:solidFill>
                <a:latin typeface="Calibri"/>
              </a:defRPr>
            </a:pPr>
            <a:r>
              <a:t>Co-Moving Body-Frame Coordinate System</a:t>
            </a:r>
          </a:p>
          <a:p>
            <a:pPr>
              <a:spcAft>
                <a:spcPts val="300"/>
              </a:spcAft>
              <a:defRPr sz="1250">
                <a:solidFill>
                  <a:srgbClr val="14181F"/>
                </a:solidFill>
                <a:latin typeface="Calibri"/>
              </a:defRPr>
            </a:pPr>
            <a:r>
              <a:t>• Lab Frame (X, Y): +Y vertically upward, gravity acts in −Y.</a:t>
            </a:r>
          </a:p>
          <a:p>
            <a:pPr>
              <a:spcAft>
                <a:spcPts val="300"/>
              </a:spcAft>
              <a:defRPr sz="1250">
                <a:solidFill>
                  <a:srgbClr val="14181F"/>
                </a:solidFill>
                <a:latin typeface="Calibri"/>
              </a:defRPr>
            </a:pPr>
            <a:r>
              <a:t>• Orientation θ: Angle of major axis (chord L) from +X axis.</a:t>
            </a:r>
          </a:p>
          <a:p>
            <a:pPr>
              <a:spcAft>
                <a:spcPts val="300"/>
              </a:spcAft>
              <a:defRPr sz="1250">
                <a:solidFill>
                  <a:srgbClr val="14181F"/>
                </a:solidFill>
                <a:latin typeface="Calibri"/>
              </a:defRPr>
            </a:pPr>
            <a:r>
              <a:t>• Body Velocities (u, v): u along major axis (+x_b), v along minor axis (+y_b).</a:t>
            </a:r>
          </a:p>
          <a:p>
            <a:pPr>
              <a:spcAft>
                <a:spcPts val="300"/>
              </a:spcAft>
              <a:defRPr sz="1250">
                <a:solidFill>
                  <a:srgbClr val="14181F"/>
                </a:solidFill>
                <a:latin typeface="Cambria Math"/>
              </a:defRPr>
            </a:pPr>
            <a:r>
              <a:t>• Angle of Attack: α = atan2(−v, u)  [α = π/2 when falling broadside (u=0, v&lt;0)].</a:t>
            </a:r>
          </a:p>
          <a:p>
            <a:pPr>
              <a:spcAft>
                <a:spcPts val="300"/>
              </a:spcAft>
              <a:defRPr sz="1250">
                <a:solidFill>
                  <a:srgbClr val="14181F"/>
                </a:solidFill>
                <a:latin typeface="Cambria Math"/>
              </a:defRPr>
            </a:pPr>
            <a:r>
              <a:t>• Angular Velocity: ω = dθ/dt.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92240" y="3886200"/>
            <a:ext cx="5212080" cy="2240280"/>
          </a:xfrm>
          <a:prstGeom prst="roundRect">
            <a:avLst/>
          </a:prstGeom>
          <a:solidFill>
            <a:srgbClr val="F4F7FB"/>
          </a:solidFill>
          <a:ln w="15875">
            <a:solidFill>
              <a:srgbClr val="C3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>
              <a:spcAft>
                <a:spcPts val="400"/>
              </a:spcAft>
              <a:defRPr sz="1350" b="1">
                <a:solidFill>
                  <a:srgbClr val="144182"/>
                </a:solidFill>
                <a:latin typeface="Calibri"/>
              </a:defRPr>
            </a:pPr>
            <a:r>
              <a:t>The Four Classical Dynamical Regimes</a:t>
            </a:r>
          </a:p>
          <a:p>
            <a:pPr>
              <a:spcAft>
                <a:spcPts val="300"/>
              </a:spcAft>
              <a:defRPr sz="1250">
                <a:solidFill>
                  <a:srgbClr val="14181F"/>
                </a:solidFill>
                <a:latin typeface="Calibri"/>
              </a:defRPr>
            </a:pPr>
            <a:r>
              <a:t>1. Steady Descent: Overdamped broadside fall (θ → 0°, X ≈ const).</a:t>
            </a:r>
          </a:p>
          <a:p>
            <a:pPr>
              <a:spcAft>
                <a:spcPts val="300"/>
              </a:spcAft>
              <a:defRPr sz="1250">
                <a:solidFill>
                  <a:srgbClr val="14181F"/>
                </a:solidFill>
                <a:latin typeface="Calibri"/>
              </a:defRPr>
            </a:pPr>
            <a:r>
              <a:t>2. Periodic Fluttering: Side-to-side oscillation (|θ| &lt; π, 0 flips).</a:t>
            </a:r>
          </a:p>
          <a:p>
            <a:pPr>
              <a:spcAft>
                <a:spcPts val="300"/>
              </a:spcAft>
              <a:defRPr sz="1250">
                <a:solidFill>
                  <a:srgbClr val="14181F"/>
                </a:solidFill>
                <a:latin typeface="Cambria Math"/>
              </a:defRPr>
            </a:pPr>
            <a:r>
              <a:t>3. Chaotic / Mixed: Alternating flutter bouts and rotational flips.</a:t>
            </a:r>
          </a:p>
          <a:p>
            <a:pPr>
              <a:spcAft>
                <a:spcPts val="300"/>
              </a:spcAft>
              <a:defRPr sz="1250">
                <a:solidFill>
                  <a:srgbClr val="14181F"/>
                </a:solidFill>
                <a:latin typeface="Calibri"/>
              </a:defRPr>
            </a:pPr>
            <a:r>
              <a:t>4. Autorotative Tumbling: Continuous rotation with lateral glide.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73952"/>
            <a:ext cx="11274552" cy="29260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defRPr sz="1000">
                <a:solidFill>
                  <a:srgbClr val="555F6E"/>
                </a:solidFill>
                <a:latin typeface="Calibri"/>
              </a:defRPr>
            </a:pPr>
            <a:r>
              <a:t>IYPT 2026 Problem 12: Autumn Coin  |  2D ODE &amp; WCSPH-FSI Numerical Investigation  |  Slide 3 / 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8686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500" b="1">
                <a:solidFill>
                  <a:srgbClr val="144182"/>
                </a:solidFill>
                <a:latin typeface="Calibri"/>
              </a:defRPr>
            </a:pPr>
            <a:r>
              <a:t>2. Dimensional Analysis &amp; Governing Dimensionless Groups</a:t>
            </a:r>
          </a:p>
          <a:p>
            <a:pPr>
              <a:defRPr sz="1350">
                <a:solidFill>
                  <a:srgbClr val="555F6E"/>
                </a:solidFill>
                <a:latin typeface="Calibri"/>
              </a:defRPr>
            </a:pPr>
            <a:r>
              <a:t>Correcting the Moment-of-Inertia Scaling and Distinguishing Input vs. Measured Reynolds Numbers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34440"/>
            <a:ext cx="5486400" cy="2514600"/>
          </a:xfrm>
          <a:prstGeom prst="roundRect">
            <a:avLst/>
          </a:prstGeom>
          <a:solidFill>
            <a:srgbClr val="F4F7FB"/>
          </a:solidFill>
          <a:ln w="15875">
            <a:solidFill>
              <a:srgbClr val="C3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>
              <a:spcAft>
                <a:spcPts val="400"/>
              </a:spcAft>
              <a:defRPr sz="1350" b="1">
                <a:solidFill>
                  <a:srgbClr val="144182"/>
                </a:solidFill>
                <a:latin typeface="Calibri"/>
              </a:defRPr>
            </a:pPr>
            <a:r>
              <a:t>1. Dimensionless Moment of Inertia (I*)</a:t>
            </a:r>
          </a:p>
          <a:p>
            <a:pPr>
              <a:spcAft>
                <a:spcPts val="300"/>
              </a:spcAft>
              <a:defRPr sz="1250">
                <a:solidFill>
                  <a:srgbClr val="14181F"/>
                </a:solidFill>
                <a:latin typeface="Calibri"/>
              </a:defRPr>
            </a:pPr>
            <a:r>
              <a:t>2D Plate Cross-Section (Andersen et al. 2005a,b):</a:t>
            </a:r>
          </a:p>
          <a:p>
            <a:pPr>
              <a:spcAft>
                <a:spcPts val="300"/>
              </a:spcAft>
              <a:defRPr sz="1250">
                <a:solidFill>
                  <a:srgbClr val="14181F"/>
                </a:solidFill>
                <a:latin typeface="Cambria Math"/>
              </a:defRPr>
            </a:pPr>
            <a:r>
              <a:t>    I* = (ρ_s * h) / (ρ_f * L)</a:t>
            </a:r>
          </a:p>
          <a:p>
            <a:pPr>
              <a:spcAft>
                <a:spcPts val="300"/>
              </a:spcAft>
              <a:defRPr sz="1250">
                <a:solidFill>
                  <a:srgbClr val="14181F"/>
                </a:solidFill>
                <a:latin typeface="Calibri"/>
              </a:defRPr>
            </a:pPr>
            <a:r>
              <a:t>3D Circular Disk of Diameter d (Field et al. 1997):</a:t>
            </a:r>
          </a:p>
          <a:p>
            <a:pPr>
              <a:spcAft>
                <a:spcPts val="300"/>
              </a:spcAft>
              <a:defRPr sz="1250">
                <a:solidFill>
                  <a:srgbClr val="14181F"/>
                </a:solidFill>
                <a:latin typeface="Cambria Math"/>
              </a:defRPr>
            </a:pPr>
            <a:r>
              <a:t>    I*_disk = I_solid / (ρ_f * d^5) = (π / 64) * (ρ_s * h) / (ρ_f * d)</a:t>
            </a:r>
          </a:p>
          <a:p>
            <a:pPr>
              <a:spcAft>
                <a:spcPts val="300"/>
              </a:spcAft>
              <a:defRPr sz="1250">
                <a:solidFill>
                  <a:srgbClr val="14181F"/>
                </a:solidFill>
                <a:latin typeface="Calibri"/>
              </a:defRPr>
            </a:pPr>
            <a:r>
              <a:t>Physical Meaning: Ratio of solid rotational inertia (~ρ_s*L^3*h) to fluid added rotational inertia (~ρ_f*L^4).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931920"/>
            <a:ext cx="5486400" cy="2194560"/>
          </a:xfrm>
          <a:prstGeom prst="roundRect">
            <a:avLst/>
          </a:prstGeom>
          <a:solidFill>
            <a:srgbClr val="F4F7FB"/>
          </a:solidFill>
          <a:ln w="15875">
            <a:solidFill>
              <a:srgbClr val="A523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>
              <a:spcAft>
                <a:spcPts val="400"/>
              </a:spcAft>
              <a:defRPr sz="1350" b="1">
                <a:solidFill>
                  <a:srgbClr val="A52323"/>
                </a:solidFill>
                <a:latin typeface="Calibri"/>
              </a:defRPr>
            </a:pPr>
            <a:r>
              <a:t>CRITICAL CORRECTION: Why I / (m * R^2) is Invalid</a:t>
            </a:r>
          </a:p>
          <a:p>
            <a:pPr>
              <a:spcAft>
                <a:spcPts val="300"/>
              </a:spcAft>
              <a:defRPr sz="1250">
                <a:solidFill>
                  <a:srgbClr val="14181F"/>
                </a:solidFill>
                <a:latin typeface="Cambria Math"/>
              </a:defRPr>
            </a:pPr>
            <a:r>
              <a:t>• A common error is defining I* = I / (m * R^2).</a:t>
            </a:r>
          </a:p>
          <a:p>
            <a:pPr>
              <a:spcAft>
                <a:spcPts val="300"/>
              </a:spcAft>
              <a:defRPr sz="1250">
                <a:solidFill>
                  <a:srgbClr val="14181F"/>
                </a:solidFill>
                <a:latin typeface="Cambria Math"/>
              </a:defRPr>
            </a:pPr>
            <a:r>
              <a:t>• For ANY solid disk or ellipse, I / (m * R^2) = const (1/4 or 1/2).</a:t>
            </a:r>
          </a:p>
          <a:p>
            <a:pPr>
              <a:spcAft>
                <a:spcPts val="300"/>
              </a:spcAft>
              <a:defRPr sz="1250">
                <a:solidFill>
                  <a:srgbClr val="14181F"/>
                </a:solidFill>
                <a:latin typeface="Cambria Math"/>
              </a:defRPr>
            </a:pPr>
            <a:r>
              <a:t>• It cancels out ρ_s, ρ_f, and h/L completely, carrying zero information about fluid-solid coupling!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234440"/>
            <a:ext cx="5559552" cy="4892040"/>
          </a:xfrm>
          <a:prstGeom prst="roundRect">
            <a:avLst/>
          </a:prstGeom>
          <a:solidFill>
            <a:srgbClr val="F4F7FB"/>
          </a:solidFill>
          <a:ln w="15875">
            <a:solidFill>
              <a:srgbClr val="C3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>
              <a:spcAft>
                <a:spcPts val="400"/>
              </a:spcAft>
              <a:defRPr sz="1350" b="1">
                <a:solidFill>
                  <a:srgbClr val="144182"/>
                </a:solidFill>
                <a:latin typeface="Calibri"/>
              </a:defRPr>
            </a:pPr>
            <a:r>
              <a:t>2. Froude Velocity Scale, Reynolds Number (Re) &amp; Strouhal Number (St)</a:t>
            </a:r>
          </a:p>
          <a:p>
            <a:pPr>
              <a:spcAft>
                <a:spcPts val="300"/>
              </a:spcAft>
              <a:defRPr sz="1250">
                <a:solidFill>
                  <a:srgbClr val="14181F"/>
                </a:solidFill>
                <a:latin typeface="Calibri"/>
              </a:defRPr>
            </a:pPr>
            <a:r>
              <a:t>• Buoyant-Gravitational Velocity Scale:</a:t>
            </a:r>
          </a:p>
          <a:p>
            <a:pPr>
              <a:spcAft>
                <a:spcPts val="300"/>
              </a:spcAft>
              <a:defRPr sz="1250">
                <a:solidFill>
                  <a:srgbClr val="14181F"/>
                </a:solidFill>
                <a:latin typeface="Cambria Math"/>
              </a:defRPr>
            </a:pPr>
            <a:r>
              <a:t>      U_t = sqrt( (ρ_s / ρ_f − 1) * g * h )</a:t>
            </a:r>
          </a:p>
          <a:p>
            <a:pPr>
              <a:spcAft>
                <a:spcPts val="300"/>
              </a:spcAft>
              <a:defRPr sz="1250">
                <a:solidFill>
                  <a:srgbClr val="14181F"/>
                </a:solidFill>
                <a:latin typeface="Calibri"/>
              </a:defRPr>
            </a:pPr>
            <a:r>
              <a:t>• Input (A Priori) Reynolds Number:</a:t>
            </a:r>
          </a:p>
          <a:p>
            <a:pPr>
              <a:spcAft>
                <a:spcPts val="300"/>
              </a:spcAft>
              <a:defRPr sz="1250">
                <a:solidFill>
                  <a:srgbClr val="14181F"/>
                </a:solidFill>
                <a:latin typeface="Cambria Math"/>
              </a:defRPr>
            </a:pPr>
            <a:r>
              <a:t>      Re_in = (ρ_f * U_t * L) / μ</a:t>
            </a:r>
          </a:p>
          <a:p>
            <a:pPr>
              <a:spcAft>
                <a:spcPts val="300"/>
              </a:spcAft>
              <a:defRPr sz="1250">
                <a:solidFill>
                  <a:srgbClr val="14181F"/>
                </a:solidFill>
                <a:latin typeface="Calibri"/>
              </a:defRPr>
            </a:pPr>
            <a:r>
              <a:t>• Measured (A Posteriori) Reynolds Number:</a:t>
            </a:r>
          </a:p>
          <a:p>
            <a:pPr>
              <a:spcAft>
                <a:spcPts val="300"/>
              </a:spcAft>
              <a:defRPr sz="1250">
                <a:solidFill>
                  <a:srgbClr val="14181F"/>
                </a:solidFill>
                <a:latin typeface="Cambria Math"/>
              </a:defRPr>
            </a:pPr>
            <a:r>
              <a:t>      Re_meas = (ρ_f * U_mean * L) / μ   (from post-transient descent speed U_mean)</a:t>
            </a:r>
          </a:p>
          <a:p>
            <a:pPr>
              <a:spcAft>
                <a:spcPts val="300"/>
              </a:spcAft>
              <a:defRPr sz="1250">
                <a:solidFill>
                  <a:srgbClr val="14181F"/>
                </a:solidFill>
                <a:latin typeface="Cambria Math"/>
              </a:defRPr>
            </a:pPr>
            <a:r>
              <a:t>• Strouhal Number (Vortex / Oscillation Frequency Scaling):</a:t>
            </a:r>
          </a:p>
          <a:p>
            <a:pPr>
              <a:spcAft>
                <a:spcPts val="300"/>
              </a:spcAft>
              <a:defRPr sz="1250">
                <a:solidFill>
                  <a:srgbClr val="14181F"/>
                </a:solidFill>
                <a:latin typeface="Cambria Math"/>
              </a:defRPr>
            </a:pPr>
            <a:r>
              <a:t>      St = (f * L) / U_mean   (where f is dominant FFT frequency of θ(t))</a:t>
            </a:r>
          </a:p>
          <a:p>
            <a:pPr>
              <a:spcAft>
                <a:spcPts val="300"/>
              </a:spcAft>
              <a:defRPr sz="1250">
                <a:solidFill>
                  <a:srgbClr val="14181F"/>
                </a:solidFill>
                <a:latin typeface="Cambria Math"/>
              </a:defRPr>
            </a:pPr>
            <a:r>
              <a:t>• Aspect Ratio:  β = h / L = b / 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73952"/>
            <a:ext cx="11274552" cy="29260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defRPr sz="1000">
                <a:solidFill>
                  <a:srgbClr val="555F6E"/>
                </a:solidFill>
                <a:latin typeface="Calibri"/>
              </a:defRPr>
            </a:pPr>
            <a:r>
              <a:t>IYPT 2026 Problem 12: Autumn Coin  |  2D ODE &amp; WCSPH-FSI Numerical Investigation  |  Slide 4 / 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8686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500" b="1">
                <a:solidFill>
                  <a:srgbClr val="144182"/>
                </a:solidFill>
                <a:latin typeface="Calibri"/>
              </a:defRPr>
            </a:pPr>
            <a:r>
              <a:t>3. 2D Cross-Section Geometry &amp; Reference Simulation Sets</a:t>
            </a:r>
          </a:p>
          <a:p>
            <a:pPr>
              <a:defRPr sz="1350">
                <a:solidFill>
                  <a:srgbClr val="555F6E"/>
                </a:solidFill>
                <a:latin typeface="Calibri"/>
              </a:defRPr>
            </a:pPr>
            <a:r>
              <a:t>Elliptical Cross-Section Approximation and Potential-Flow Added-Mass Tensor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34440"/>
            <a:ext cx="11274552" cy="2148840"/>
          </a:xfrm>
          <a:prstGeom prst="roundRect">
            <a:avLst/>
          </a:prstGeom>
          <a:solidFill>
            <a:srgbClr val="F4F7FB"/>
          </a:solidFill>
          <a:ln w="15875">
            <a:solidFill>
              <a:srgbClr val="C3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>
              <a:spcAft>
                <a:spcPts val="400"/>
              </a:spcAft>
              <a:defRPr sz="1350" b="1">
                <a:solidFill>
                  <a:srgbClr val="144182"/>
                </a:solidFill>
                <a:latin typeface="Calibri"/>
              </a:defRPr>
            </a:pPr>
            <a:r>
              <a:t>Geometry &amp; Analytical Potential-Flow Added Mass (per unit depth)</a:t>
            </a:r>
          </a:p>
          <a:p>
            <a:pPr>
              <a:spcAft>
                <a:spcPts val="300"/>
              </a:spcAft>
              <a:defRPr sz="1250">
                <a:solidFill>
                  <a:srgbClr val="14181F"/>
                </a:solidFill>
                <a:latin typeface="Cambria Math"/>
              </a:defRPr>
            </a:pPr>
            <a:r>
              <a:t>• Elliptical cross-section: semi-major axis a = L/2, semi-minor axis b = h/2, area A = π*a*b.</a:t>
            </a:r>
          </a:p>
          <a:p>
            <a:pPr>
              <a:spcAft>
                <a:spcPts val="300"/>
              </a:spcAft>
              <a:defRPr sz="1250">
                <a:solidFill>
                  <a:srgbClr val="14181F"/>
                </a:solidFill>
                <a:latin typeface="Cambria Math"/>
              </a:defRPr>
            </a:pPr>
            <a:r>
              <a:t>• Solid mass: m = ρ_s * π * a * b     |   Displaced fluid mass: m_f = ρ_f * π * a * b.</a:t>
            </a:r>
          </a:p>
          <a:p>
            <a:pPr>
              <a:spcAft>
                <a:spcPts val="300"/>
              </a:spcAft>
              <a:defRPr sz="1250">
                <a:solidFill>
                  <a:srgbClr val="14181F"/>
                </a:solidFill>
                <a:latin typeface="Cambria Math"/>
              </a:defRPr>
            </a:pPr>
            <a:r>
              <a:t>• Solid moment of inertia:  I = (1/4) * m * (a^2 + b^2).</a:t>
            </a:r>
          </a:p>
          <a:p>
            <a:pPr>
              <a:spcAft>
                <a:spcPts val="300"/>
              </a:spcAft>
              <a:defRPr sz="1250">
                <a:solidFill>
                  <a:srgbClr val="14181F"/>
                </a:solidFill>
                <a:latin typeface="Cambria Math"/>
              </a:defRPr>
            </a:pPr>
            <a:r>
              <a:t>• Added Mass along chord (u):     m11 = π * ρ_f * b^2   (vanishes in thin limit b → 0).</a:t>
            </a:r>
          </a:p>
          <a:p>
            <a:pPr>
              <a:spcAft>
                <a:spcPts val="300"/>
              </a:spcAft>
              <a:defRPr sz="1250">
                <a:solidFill>
                  <a:srgbClr val="14181F"/>
                </a:solidFill>
                <a:latin typeface="Cambria Math"/>
              </a:defRPr>
            </a:pPr>
            <a:r>
              <a:t>• Added Mass normal to chord (v): m22 = π * ρ_f * a^2   (scales with chord squared).</a:t>
            </a:r>
          </a:p>
          <a:p>
            <a:pPr>
              <a:spcAft>
                <a:spcPts val="300"/>
              </a:spcAft>
              <a:defRPr sz="1250">
                <a:solidFill>
                  <a:srgbClr val="14181F"/>
                </a:solidFill>
                <a:latin typeface="Cambria Math"/>
              </a:defRPr>
            </a:pPr>
            <a:r>
              <a:t>• Added Moment of Inertia (ω):    I_a = (π / 8) * ρ_f * (a^2 − b^2)^2.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3566160"/>
          <a:ext cx="11274552" cy="2697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3017520"/>
                <a:gridCol w="1097280"/>
                <a:gridCol w="914400"/>
                <a:gridCol w="914400"/>
                <a:gridCol w="914400"/>
                <a:gridCol w="1463040"/>
                <a:gridCol w="1307592"/>
              </a:tblGrid>
              <a:tr h="449580"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Parameter Set Name</a:t>
                      </a:r>
                    </a:p>
                  </a:txBody>
                  <a:tcPr anchor="ctr" marT="36576" marB="36576" marL="45720" marR="45720">
                    <a:solidFill>
                      <a:srgbClr val="194B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Simulation Role</a:t>
                      </a:r>
                    </a:p>
                  </a:txBody>
                  <a:tcPr anchor="ctr" marT="36576" marB="36576" marL="45720" marR="45720">
                    <a:solidFill>
                      <a:srgbClr val="194B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ρ_s [kg/m³]</a:t>
                      </a:r>
                    </a:p>
                  </a:txBody>
                  <a:tcPr anchor="ctr" marT="36576" marB="36576" marL="45720" marR="45720">
                    <a:solidFill>
                      <a:srgbClr val="194B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 [mm]</a:t>
                      </a:r>
                    </a:p>
                  </a:txBody>
                  <a:tcPr anchor="ctr" marT="36576" marB="36576" marL="45720" marR="45720">
                    <a:solidFill>
                      <a:srgbClr val="194B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 [mm]</a:t>
                      </a:r>
                    </a:p>
                  </a:txBody>
                  <a:tcPr anchor="ctr" marT="36576" marB="36576" marL="45720" marR="45720">
                    <a:solidFill>
                      <a:srgbClr val="194B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β = h/L</a:t>
                      </a:r>
                    </a:p>
                  </a:txBody>
                  <a:tcPr anchor="ctr" marT="36576" marB="36576" marL="45720" marR="45720">
                    <a:solidFill>
                      <a:srgbClr val="194B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I* (in Water)</a:t>
                      </a:r>
                    </a:p>
                  </a:txBody>
                  <a:tcPr anchor="ctr" marT="36576" marB="36576" marL="45720" marR="45720">
                    <a:solidFill>
                      <a:srgbClr val="194B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U_t [m/s]</a:t>
                      </a:r>
                    </a:p>
                  </a:txBody>
                  <a:tcPr anchor="ctr" marT="36576" marB="36576" marL="45720" marR="45720">
                    <a:solidFill>
                      <a:srgbClr val="194B8C"/>
                    </a:solidFill>
                  </a:tcPr>
                </a:tc>
              </a:tr>
              <a:tr h="44958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reference_card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Baseline active fluttering showcase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2700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24.0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1.50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0.0625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0.680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0.158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</a:tr>
              <a:tr h="44958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light_coin</a:t>
                      </a:r>
                    </a:p>
                  </a:txBody>
                  <a:tcPr anchor="ctr" marT="36576" marB="36576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Low-density metallic/aluminium disc</a:t>
                      </a:r>
                    </a:p>
                  </a:txBody>
                  <a:tcPr anchor="ctr" marT="36576" marB="36576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2700</a:t>
                      </a:r>
                    </a:p>
                  </a:txBody>
                  <a:tcPr anchor="ctr" marT="36576" marB="36576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24.0</a:t>
                      </a:r>
                    </a:p>
                  </a:txBody>
                  <a:tcPr anchor="ctr" marT="36576" marB="36576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1.80</a:t>
                      </a:r>
                    </a:p>
                  </a:txBody>
                  <a:tcPr anchor="ctr" marT="36576" marB="36576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0.0750</a:t>
                      </a:r>
                    </a:p>
                  </a:txBody>
                  <a:tcPr anchor="ctr" marT="36576" marB="36576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0.203–0.80</a:t>
                      </a:r>
                    </a:p>
                  </a:txBody>
                  <a:tcPr anchor="ctr" marT="36576" marB="36576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0.173</a:t>
                      </a:r>
                    </a:p>
                  </a:txBody>
                  <a:tcPr anchor="ctr" marT="36576" marB="36576" marL="45720" marR="45720">
                    <a:solidFill>
                      <a:srgbClr val="FFFFFF"/>
                    </a:solidFill>
                  </a:tcPr>
                </a:tc>
              </a:tr>
              <a:tr h="44958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washer_proxy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Reduced effective density (central hole proxy)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4000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24.0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1.80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0.0750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0.301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0.230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</a:tr>
              <a:tr h="44958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tumbling_clean</a:t>
                      </a:r>
                    </a:p>
                  </a:txBody>
                  <a:tcPr anchor="ctr" marT="36576" marB="36576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Unidirectional period-1 tumbling showcase</a:t>
                      </a:r>
                    </a:p>
                  </a:txBody>
                  <a:tcPr anchor="ctr" marT="36576" marB="36576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3200</a:t>
                      </a:r>
                    </a:p>
                  </a:txBody>
                  <a:tcPr anchor="ctr" marT="36576" marB="36576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20.0</a:t>
                      </a:r>
                    </a:p>
                  </a:txBody>
                  <a:tcPr anchor="ctr" marT="36576" marB="36576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1.50</a:t>
                      </a:r>
                    </a:p>
                  </a:txBody>
                  <a:tcPr anchor="ctr" marT="36576" marB="36576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0.0750</a:t>
                      </a:r>
                    </a:p>
                  </a:txBody>
                  <a:tcPr anchor="ctr" marT="36576" marB="36576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1.200</a:t>
                      </a:r>
                    </a:p>
                  </a:txBody>
                  <a:tcPr anchor="ctr" marT="36576" marB="36576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0.180</a:t>
                      </a:r>
                    </a:p>
                  </a:txBody>
                  <a:tcPr anchor="ctr" marT="36576" marB="36576" marL="45720" marR="45720">
                    <a:solidFill>
                      <a:srgbClr val="FFFFFF"/>
                    </a:solidFill>
                  </a:tcPr>
                </a:tc>
              </a:tr>
              <a:tr h="44958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heavy_coin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High-inertia steel/brass coin (mixed/tumble)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7800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24.0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1.80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0.0750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0.586–3.50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0.347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73952"/>
            <a:ext cx="11274552" cy="29260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defRPr sz="1000">
                <a:solidFill>
                  <a:srgbClr val="555F6E"/>
                </a:solidFill>
                <a:latin typeface="Calibri"/>
              </a:defRPr>
            </a:pPr>
            <a:r>
              <a:t>IYPT 2026 Problem 12: Autumn Coin  |  2D ODE &amp; WCSPH-FSI Numerical Investigation  |  Slide 5 / 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8686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500" b="1">
                <a:solidFill>
                  <a:srgbClr val="144182"/>
                </a:solidFill>
                <a:latin typeface="Calibri"/>
              </a:defRPr>
            </a:pPr>
            <a:r>
              <a:t>4. Mathematical Model: Coupled 2D Kirchhoff–Andersen ODEs</a:t>
            </a:r>
          </a:p>
          <a:p>
            <a:pPr>
              <a:defRPr sz="1350">
                <a:solidFill>
                  <a:srgbClr val="555F6E"/>
                </a:solidFill>
                <a:latin typeface="Calibri"/>
              </a:defRPr>
            </a:pPr>
            <a:r>
              <a:t>Andersen, Pesavento &amp; Wang (2005b), J. Fluid Mech. 541, 91–104, Equations (3.1)–(3.3)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34440"/>
            <a:ext cx="11274552" cy="2834640"/>
          </a:xfrm>
          <a:prstGeom prst="roundRect">
            <a:avLst/>
          </a:prstGeom>
          <a:solidFill>
            <a:srgbClr val="F4F7FB"/>
          </a:solidFill>
          <a:ln w="15875">
            <a:solidFill>
              <a:srgbClr val="C3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>
              <a:spcAft>
                <a:spcPts val="400"/>
              </a:spcAft>
              <a:defRPr sz="1450" b="1">
                <a:solidFill>
                  <a:srgbClr val="144182"/>
                </a:solidFill>
                <a:latin typeface="Calibri"/>
              </a:defRPr>
            </a:pPr>
            <a:r>
              <a:t>6-State Coupled Ordinary Differential Equation System: state = [X, Y, θ, u, v, ω]</a:t>
            </a:r>
          </a:p>
          <a:p>
            <a:pPr>
              <a:spcAft>
                <a:spcPts val="300"/>
              </a:spcAft>
              <a:defRPr sz="1350">
                <a:solidFill>
                  <a:srgbClr val="14181F"/>
                </a:solidFill>
                <a:latin typeface="Calibri"/>
              </a:defRPr>
            </a:pPr>
            <a:r>
              <a:t>Lab-Frame Kinematics:</a:t>
            </a:r>
          </a:p>
          <a:p>
            <a:pPr>
              <a:spcAft>
                <a:spcPts val="300"/>
              </a:spcAft>
              <a:defRPr sz="1350">
                <a:solidFill>
                  <a:srgbClr val="14181F"/>
                </a:solidFill>
                <a:latin typeface="Cambria Math"/>
              </a:defRPr>
            </a:pPr>
            <a:r>
              <a:t>    dX/dt = u cos(θ) − v sin(θ),      dY/dt = u sin(θ) + v cos(θ),      dθ/dt = ω</a:t>
            </a:r>
          </a:p>
          <a:p>
            <a:pPr>
              <a:spcAft>
                <a:spcPts val="300"/>
              </a:spcAft>
              <a:defRPr sz="1350">
                <a:solidFill>
                  <a:srgbClr val="14181F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350">
                <a:solidFill>
                  <a:srgbClr val="14181F"/>
                </a:solidFill>
                <a:latin typeface="Calibri"/>
              </a:defRPr>
            </a:pPr>
            <a:r>
              <a:t>Body-Frame Dynamics (Kirchhoff Equations + Quasi-Steady Hydrodynamic Forces):</a:t>
            </a:r>
          </a:p>
          <a:p>
            <a:pPr>
              <a:spcAft>
                <a:spcPts val="300"/>
              </a:spcAft>
              <a:defRPr sz="1350">
                <a:solidFill>
                  <a:srgbClr val="14181F"/>
                </a:solidFill>
                <a:latin typeface="Cambria Math"/>
              </a:defRPr>
            </a:pPr>
            <a:r>
              <a:t>    (m + m11) du/dt =  (m + m22) v ω  −  ρ_f Γ v  −  F_u  −  (m − m_f) g sin(θ)        [Eq. 3.1]</a:t>
            </a:r>
          </a:p>
          <a:p>
            <a:pPr>
              <a:spcAft>
                <a:spcPts val="300"/>
              </a:spcAft>
              <a:defRPr sz="1350">
                <a:solidFill>
                  <a:srgbClr val="14181F"/>
                </a:solidFill>
                <a:latin typeface="Cambria Math"/>
              </a:defRPr>
            </a:pPr>
            <a:r>
              <a:t>    (m + m22) dv/dt = −(m + m11) u ω  +  ρ_f Γ u  −  F_v  −  (m − m_f) g cos(θ)        [Eq. 3.2]</a:t>
            </a:r>
          </a:p>
          <a:p>
            <a:pPr>
              <a:spcAft>
                <a:spcPts val="300"/>
              </a:spcAft>
              <a:defRPr sz="1350">
                <a:solidFill>
                  <a:srgbClr val="14181F"/>
                </a:solidFill>
                <a:latin typeface="Cambria Math"/>
              </a:defRPr>
            </a:pPr>
            <a:r>
              <a:t>    (I + I_a) dω/dt =  (m11 − m22) u v  −  τ_ν                                         [Eq. 3.3]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206240"/>
            <a:ext cx="11274552" cy="21031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14181F"/>
                </a:solidFill>
                <a:latin typeface="Calibri"/>
              </a:defRPr>
            </a:pPr>
            <a:r>
              <a:t>•  Physical Interpretation of Governing Terms in Eqs. (3.1)–(3.3):</a:t>
            </a:r>
          </a:p>
          <a:p>
            <a:pPr>
              <a:spcAft>
                <a:spcPts val="700"/>
              </a:spcAft>
              <a:defRPr sz="1300">
                <a:solidFill>
                  <a:srgbClr val="14181F"/>
                </a:solidFill>
                <a:latin typeface="Calibri"/>
              </a:defRPr>
            </a:pPr>
            <a:r>
              <a:t>•  Coriolis &amp; Added Mass: +(m + m22) v ω and −(m + m11) u ω represent rotating body-frame apparent coupling.</a:t>
            </a:r>
          </a:p>
          <a:p>
            <a:pPr>
              <a:spcAft>
                <a:spcPts val="700"/>
              </a:spcAft>
              <a:defRPr sz="1300">
                <a:solidFill>
                  <a:srgbClr val="14181F"/>
                </a:solidFill>
                <a:latin typeface="Calibri"/>
              </a:defRPr>
            </a:pPr>
            <a:r>
              <a:t>•  Kutta–Joukowski Circulation Lift: −ρ_f Γ v and +ρ_f Γ u act perpendicular to velocity vector V = (u, v), doing zero mechanical work.</a:t>
            </a:r>
          </a:p>
          <a:p>
            <a:pPr>
              <a:spcAft>
                <a:spcPts val="700"/>
              </a:spcAft>
              <a:defRPr sz="1300">
                <a:solidFill>
                  <a:srgbClr val="14181F"/>
                </a:solidFill>
                <a:latin typeface="Calibri"/>
              </a:defRPr>
            </a:pPr>
            <a:r>
              <a:t>•  Destabilizing Munk Torque: (m11 − m22) u v = −π ρ_f (a^2 − b^2) u v drives the plate broadside to flow.</a:t>
            </a:r>
          </a:p>
          <a:p>
            <a:pPr>
              <a:spcAft>
                <a:spcPts val="700"/>
              </a:spcAft>
              <a:defRPr sz="1300">
                <a:solidFill>
                  <a:srgbClr val="14181F"/>
                </a:solidFill>
                <a:latin typeface="Calibri"/>
              </a:defRPr>
            </a:pPr>
            <a:r>
              <a:t>•  Dimensional Consistency Audit: Γ has units [m²/s]; linear terms have units [N/m]; angular equation has units [N·m/m = N].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73952"/>
            <a:ext cx="11274552" cy="29260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defRPr sz="1000">
                <a:solidFill>
                  <a:srgbClr val="555F6E"/>
                </a:solidFill>
                <a:latin typeface="Calibri"/>
              </a:defRPr>
            </a:pPr>
            <a:r>
              <a:t>IYPT 2026 Problem 12: Autumn Coin  |  2D ODE &amp; WCSPH-FSI Numerical Investigation  |  Slide 6 / 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8686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500" b="1">
                <a:solidFill>
                  <a:srgbClr val="144182"/>
                </a:solidFill>
                <a:latin typeface="Calibri"/>
              </a:defRPr>
            </a:pPr>
            <a:r>
              <a:t>5. Mathematical Model: Circulation, Viscous Drag &amp; Rotational Torque</a:t>
            </a:r>
          </a:p>
          <a:p>
            <a:pPr>
              <a:defRPr sz="1350">
                <a:solidFill>
                  <a:srgbClr val="555F6E"/>
                </a:solidFill>
                <a:latin typeface="Calibri"/>
              </a:defRPr>
            </a:pPr>
            <a:r>
              <a:t>Exact Force &amp; Torque Parameterizations from Andersen, Pesavento &amp; Wang (2005b) Eqs. (3.6)–(3.9)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34440"/>
            <a:ext cx="5532120" cy="2423160"/>
          </a:xfrm>
          <a:prstGeom prst="roundRect">
            <a:avLst/>
          </a:prstGeom>
          <a:solidFill>
            <a:srgbClr val="F4F7FB"/>
          </a:solidFill>
          <a:ln w="15875">
            <a:solidFill>
              <a:srgbClr val="C3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>
              <a:spcAft>
                <a:spcPts val="400"/>
              </a:spcAft>
              <a:defRPr sz="1300" b="1">
                <a:solidFill>
                  <a:srgbClr val="144182"/>
                </a:solidFill>
                <a:latin typeface="Calibri"/>
              </a:defRPr>
            </a:pPr>
            <a:r>
              <a:t>1. Quasi-Steady Circulation Γ (Eqs. 3.6–3.7)</a:t>
            </a:r>
          </a:p>
          <a:p>
            <a:pPr>
              <a:spcAft>
                <a:spcPts val="300"/>
              </a:spcAft>
              <a:defRPr sz="1200">
                <a:solidFill>
                  <a:srgbClr val="14181F"/>
                </a:solidFill>
                <a:latin typeface="Cambria Math"/>
              </a:defRPr>
            </a:pPr>
            <a:r>
              <a:t>In terms of semi-chord a = L/2:   Γ = −2 C_T a (u v / |V|) + 2 C_R a^2 ω</a:t>
            </a:r>
          </a:p>
          <a:p>
            <a:pPr>
              <a:spcAft>
                <a:spcPts val="300"/>
              </a:spcAft>
              <a:defRPr sz="1200">
                <a:solidFill>
                  <a:srgbClr val="14181F"/>
                </a:solidFill>
                <a:latin typeface="Cambria Math"/>
              </a:defRPr>
            </a:pPr>
            <a:r>
              <a:t>In terms of full chord L = 2a:    Γ = −C_T L (u v / |V|) + 0.5 C_R L^2 ω</a:t>
            </a:r>
          </a:p>
          <a:p>
            <a:pPr>
              <a:spcAft>
                <a:spcPts val="300"/>
              </a:spcAft>
              <a:defRPr sz="1200">
                <a:solidFill>
                  <a:srgbClr val="14181F"/>
                </a:solidFill>
                <a:latin typeface="Cambria Math"/>
              </a:defRPr>
            </a:pPr>
            <a:r>
              <a:t>• Translational Stall Lift: Since sin(2α) = −2 u v / |V|^2, the implied lift coefficient is:</a:t>
            </a:r>
          </a:p>
          <a:p>
            <a:pPr>
              <a:spcAft>
                <a:spcPts val="300"/>
              </a:spcAft>
              <a:defRPr sz="1200">
                <a:solidFill>
                  <a:srgbClr val="14181F"/>
                </a:solidFill>
                <a:latin typeface="Cambria Math"/>
              </a:defRPr>
            </a:pPr>
            <a:r>
              <a:t>      C_L(α) = 2 Γ_trans / (|V| L) = C_T sin(2α)  →  Peaks at C_L,max = C_T = 1.2 at α = 45°.</a:t>
            </a:r>
          </a:p>
          <a:p>
            <a:pPr>
              <a:spcAft>
                <a:spcPts val="300"/>
              </a:spcAft>
              <a:defRPr sz="1200">
                <a:solidFill>
                  <a:srgbClr val="14181F"/>
                </a:solidFill>
                <a:latin typeface="Cambria Math"/>
              </a:defRPr>
            </a:pPr>
            <a:r>
              <a:t>• Rotational Magnus Circulation: 0.5 C_R L^2 ω with C_R = π generates upward/sideways lift during spin.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794760"/>
            <a:ext cx="5532120" cy="2331720"/>
          </a:xfrm>
          <a:prstGeom prst="roundRect">
            <a:avLst/>
          </a:prstGeom>
          <a:solidFill>
            <a:srgbClr val="F4F7FB"/>
          </a:solidFill>
          <a:ln w="15875">
            <a:solidFill>
              <a:srgbClr val="C3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>
              <a:spcAft>
                <a:spcPts val="400"/>
              </a:spcAft>
              <a:defRPr sz="1300" b="1">
                <a:solidFill>
                  <a:srgbClr val="144182"/>
                </a:solidFill>
                <a:latin typeface="Calibri"/>
              </a:defRPr>
            </a:pPr>
            <a:r>
              <a:t>2. Angle-Dependent Viscous Drag (Eq. 3.8)</a:t>
            </a:r>
          </a:p>
          <a:p>
            <a:pPr>
              <a:spcAft>
                <a:spcPts val="300"/>
              </a:spcAft>
              <a:defRPr sz="1200">
                <a:solidFill>
                  <a:srgbClr val="14181F"/>
                </a:solidFill>
                <a:latin typeface="Cambria Math"/>
              </a:defRPr>
            </a:pPr>
            <a:r>
              <a:t>C_D(α) = C_D0 − C_D1 cos(2α) = 1.4 − 1.0 cos(2α)</a:t>
            </a:r>
          </a:p>
          <a:p>
            <a:pPr>
              <a:spcAft>
                <a:spcPts val="300"/>
              </a:spcAft>
              <a:defRPr sz="1200">
                <a:solidFill>
                  <a:srgbClr val="14181F"/>
                </a:solidFill>
                <a:latin typeface="Cambria Math"/>
              </a:defRPr>
            </a:pPr>
            <a:r>
              <a:t>(F_u, F_v) = 0.5 * ρ_f * L * C_D(α) * |V| * (u, v)</a:t>
            </a:r>
          </a:p>
          <a:p>
            <a:pPr>
              <a:spcAft>
                <a:spcPts val="300"/>
              </a:spcAft>
              <a:defRPr sz="1200">
                <a:solidFill>
                  <a:srgbClr val="14181F"/>
                </a:solidFill>
                <a:latin typeface="Cambria Math"/>
              </a:defRPr>
            </a:pPr>
            <a:r>
              <a:t>• Edge-on minimum (α = 0):   C_D(0) = 0.4</a:t>
            </a:r>
          </a:p>
          <a:p>
            <a:pPr>
              <a:spcAft>
                <a:spcPts val="300"/>
              </a:spcAft>
              <a:defRPr sz="1200">
                <a:solidFill>
                  <a:srgbClr val="14181F"/>
                </a:solidFill>
                <a:latin typeface="Cambria Math"/>
              </a:defRPr>
            </a:pPr>
            <a:r>
              <a:t>• Broadside maximum (α = π/2): C_D(π/2) = 2.4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234440"/>
            <a:ext cx="5559552" cy="4892040"/>
          </a:xfrm>
          <a:prstGeom prst="roundRect">
            <a:avLst/>
          </a:prstGeom>
          <a:solidFill>
            <a:srgbClr val="F4F7FB"/>
          </a:solidFill>
          <a:ln w="15875">
            <a:solidFill>
              <a:srgbClr val="C3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>
              <a:spcAft>
                <a:spcPts val="400"/>
              </a:spcAft>
              <a:defRPr sz="1300" b="1">
                <a:solidFill>
                  <a:srgbClr val="144182"/>
                </a:solidFill>
                <a:latin typeface="Calibri"/>
              </a:defRPr>
            </a:pPr>
            <a:r>
              <a:t>3. Dissipative Rotational Torque τ_ν (Eq. 3.9 &amp; Strip Theory Equivalence)</a:t>
            </a:r>
          </a:p>
          <a:p>
            <a:pPr>
              <a:spcAft>
                <a:spcPts val="300"/>
              </a:spcAft>
              <a:defRPr sz="1200">
                <a:solidFill>
                  <a:srgbClr val="14181F"/>
                </a:solidFill>
                <a:latin typeface="Calibri"/>
              </a:defRPr>
            </a:pPr>
            <a:r>
              <a:t>Andersen et al. (2005b) Eq. (3.9) combines linear viscous damping (μ_1) and quadratic drag (μ_2):</a:t>
            </a:r>
          </a:p>
          <a:p>
            <a:pPr>
              <a:spcAft>
                <a:spcPts val="300"/>
              </a:spcAft>
              <a:defRPr sz="1200">
                <a:solidFill>
                  <a:srgbClr val="14181F"/>
                </a:solidFill>
                <a:latin typeface="Cambria Math"/>
              </a:defRPr>
            </a:pPr>
            <a:r>
              <a:t>    τ_ν = π ρ_f a^4 [ (U_char / a) μ_1 + μ_2 |ω| ] ω,    where U_char = sqrt((ρ_s/ρ_f − 1) g (h/2))</a:t>
            </a:r>
          </a:p>
          <a:p>
            <a:pPr>
              <a:spcAft>
                <a:spcPts val="300"/>
              </a:spcAft>
              <a:defRPr sz="1200">
                <a:solidFill>
                  <a:srgbClr val="14181F"/>
                </a:solidFill>
                <a:latin typeface="Cambria Math"/>
              </a:defRPr>
            </a:pPr>
            <a:r>
              <a:t>Substituting a = L / 2 gives our exact implementation:</a:t>
            </a:r>
          </a:p>
          <a:p>
            <a:pPr>
              <a:spcAft>
                <a:spcPts val="300"/>
              </a:spcAft>
              <a:defRPr sz="1200">
                <a:solidFill>
                  <a:srgbClr val="14181F"/>
                </a:solidFill>
                <a:latin typeface="Cambria Math"/>
              </a:defRPr>
            </a:pPr>
            <a:r>
              <a:t>    τ_ν = 0.5 C_τ ρ_f L^4 |ω| ω  +  (π / 8) ρ_f L^3 U_char μ_1 ω</a:t>
            </a:r>
          </a:p>
          <a:p>
            <a:pPr>
              <a:spcAft>
                <a:spcPts val="300"/>
              </a:spcAft>
              <a:defRPr sz="1200">
                <a:solidFill>
                  <a:srgbClr val="14181F"/>
                </a:solidFill>
                <a:latin typeface="Cambria Math"/>
              </a:defRPr>
            </a:pPr>
            <a:r>
              <a:t>• Exact Conversion: C_τ = π μ_2 / 8. For Andersen's fitted μ_2 = 0.2, C_τ = 0.0785.</a:t>
            </a:r>
          </a:p>
          <a:p>
            <a:pPr>
              <a:spcAft>
                <a:spcPts val="300"/>
              </a:spcAft>
              <a:defRPr sz="1200">
                <a:solidFill>
                  <a:srgbClr val="14181F"/>
                </a:solidFill>
                <a:latin typeface="Cambria Math"/>
              </a:defRPr>
            </a:pPr>
            <a:r>
              <a:t>• Strip-Theory Derivation: Integrating 0.5 ρ_f C_D(π/2) |ω r| (ω r) r dr from −L/2 to +L/2 gives:</a:t>
            </a:r>
          </a:p>
          <a:p>
            <a:pPr>
              <a:spcAft>
                <a:spcPts val="300"/>
              </a:spcAft>
              <a:defRPr sz="1200">
                <a:solidFill>
                  <a:srgbClr val="14181F"/>
                </a:solidFill>
                <a:latin typeface="Cambria Math"/>
              </a:defRPr>
            </a:pPr>
            <a:r>
              <a:t>      C_τ,strip = C_D(π/2) / 32 = 2.4 / 32 = 0.0750  (Agrees with Andersen Eq. 3.9 within 4.5%!).</a:t>
            </a:r>
          </a:p>
          <a:p>
            <a:pPr>
              <a:spcAft>
                <a:spcPts val="300"/>
              </a:spcAft>
              <a:defRPr sz="1200">
                <a:solidFill>
                  <a:srgbClr val="14181F"/>
                </a:solidFill>
                <a:latin typeface="Cambria Math"/>
              </a:defRPr>
            </a:pPr>
            <a:r>
              <a:t>• Role of Linear Term μ_1: Stabilizes steady broadside descent at low inertia (I* &lt;= 0.07).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73952"/>
            <a:ext cx="11274552" cy="29260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defRPr sz="1000">
                <a:solidFill>
                  <a:srgbClr val="555F6E"/>
                </a:solidFill>
                <a:latin typeface="Calibri"/>
              </a:defRPr>
            </a:pPr>
            <a:r>
              <a:t>IYPT 2026 Problem 12: Autumn Coin  |  2D ODE &amp; WCSPH-FSI Numerical Investigation  |  Slide 7 / 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8686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500" b="1">
                <a:solidFill>
                  <a:srgbClr val="144182"/>
                </a:solidFill>
                <a:latin typeface="Calibri"/>
              </a:defRPr>
            </a:pPr>
            <a:r>
              <a:t>6. Hydrodynamic Coefficient Table &amp; Literature Verification</a:t>
            </a:r>
          </a:p>
          <a:p>
            <a:pPr>
              <a:defRPr sz="1350">
                <a:solidFill>
                  <a:srgbClr val="555F6E"/>
                </a:solidFill>
                <a:latin typeface="Calibri"/>
              </a:defRPr>
            </a:pPr>
            <a:r>
              <a:t>All Parameters Centralized in `config/base.yaml` and Verified Against Primary Literature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34440"/>
          <a:ext cx="11274552" cy="4892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1188720"/>
                <a:gridCol w="914400"/>
                <a:gridCol w="3931920"/>
                <a:gridCol w="4233672"/>
              </a:tblGrid>
              <a:tr h="543560"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Symbol</a:t>
                      </a:r>
                    </a:p>
                  </a:txBody>
                  <a:tcPr anchor="ctr" marT="36576" marB="36576" marL="45720" marR="45720">
                    <a:solidFill>
                      <a:srgbClr val="194B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Value</a:t>
                      </a:r>
                    </a:p>
                  </a:txBody>
                  <a:tcPr anchor="ctr" marT="36576" marB="36576" marL="45720" marR="45720">
                    <a:solidFill>
                      <a:srgbClr val="194B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Units</a:t>
                      </a:r>
                    </a:p>
                  </a:txBody>
                  <a:tcPr anchor="ctr" marT="36576" marB="36576" marL="45720" marR="45720">
                    <a:solidFill>
                      <a:srgbClr val="194B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Mathematical Formula / Role</a:t>
                      </a:r>
                    </a:p>
                  </a:txBody>
                  <a:tcPr anchor="ctr" marT="36576" marB="36576" marL="45720" marR="45720">
                    <a:solidFill>
                      <a:srgbClr val="194B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Primary Literature Source &amp; Verification</a:t>
                      </a:r>
                    </a:p>
                  </a:txBody>
                  <a:tcPr anchor="ctr" marT="36576" marB="36576" marL="45720" marR="45720">
                    <a:solidFill>
                      <a:srgbClr val="194B8C"/>
                    </a:solidFill>
                  </a:tcPr>
                </a:tc>
              </a:tr>
              <a:tr h="54356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ρ_f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998.0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kg/m³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Fluid density (water at 20°C)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Standard physical property (water at 20°C)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</a:tr>
              <a:tr h="54356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μ</a:t>
                      </a:r>
                    </a:p>
                  </a:txBody>
                  <a:tcPr anchor="ctr" marT="36576" marB="36576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1.00 × 10⁻³</a:t>
                      </a:r>
                    </a:p>
                  </a:txBody>
                  <a:tcPr anchor="ctr" marT="36576" marB="36576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Pa·s</a:t>
                      </a:r>
                    </a:p>
                  </a:txBody>
                  <a:tcPr anchor="ctr" marT="36576" marB="36576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Dynamic viscosity (for a posteriori Re)</a:t>
                      </a:r>
                    </a:p>
                  </a:txBody>
                  <a:tcPr anchor="ctr" marT="36576" marB="36576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Standard physical property (water at 20°C)</a:t>
                      </a:r>
                    </a:p>
                  </a:txBody>
                  <a:tcPr anchor="ctr" marT="36576" marB="36576" marL="45720" marR="45720">
                    <a:solidFill>
                      <a:srgbClr val="FFFFFF"/>
                    </a:solidFill>
                  </a:tcPr>
                </a:tc>
              </a:tr>
              <a:tr h="54356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C_T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1.20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Translational circulation: Γ_trans = −C_T L u v / |V|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Andersen et al. (2005b) Eq. (3.7); peaks C_L = 1.2 at α = 45°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</a:tr>
              <a:tr h="54356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C_R</a:t>
                      </a:r>
                    </a:p>
                  </a:txBody>
                  <a:tcPr anchor="ctr" marT="36576" marB="36576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π (3.1416)</a:t>
                      </a:r>
                    </a:p>
                  </a:txBody>
                  <a:tcPr anchor="ctr" marT="36576" marB="36576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 marT="36576" marB="36576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Rotational circulation: Γ_rot = 0.5 C_R L² ω</a:t>
                      </a:r>
                    </a:p>
                  </a:txBody>
                  <a:tcPr anchor="ctr" marT="36576" marB="36576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Andersen et al. (2005b) Eq. (3.7); Munk/Magnus rotational lift</a:t>
                      </a:r>
                    </a:p>
                  </a:txBody>
                  <a:tcPr anchor="ctr" marT="36576" marB="36576" marL="45720" marR="45720">
                    <a:solidFill>
                      <a:srgbClr val="FFFFFF"/>
                    </a:solidFill>
                  </a:tcPr>
                </a:tc>
              </a:tr>
              <a:tr h="54356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C_D0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1.40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Baseline drag constant: C_D(α) = C_D0 − C_D1 cos(2α)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Andersen et al. (2005b) Eq. (3.8)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</a:tr>
              <a:tr h="54356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C_D1</a:t>
                      </a:r>
                    </a:p>
                  </a:txBody>
                  <a:tcPr anchor="ctr" marT="36576" marB="36576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1.00</a:t>
                      </a:r>
                    </a:p>
                  </a:txBody>
                  <a:tcPr anchor="ctr" marT="36576" marB="36576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 marT="36576" marB="36576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Angle-dependent drag amplitude (C_D in [0.4, 2.4])</a:t>
                      </a:r>
                    </a:p>
                  </a:txBody>
                  <a:tcPr anchor="ctr" marT="36576" marB="36576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Andersen et al. (2005b) Eq. (3.8)</a:t>
                      </a:r>
                    </a:p>
                  </a:txBody>
                  <a:tcPr anchor="ctr" marT="36576" marB="36576" marL="45720" marR="45720">
                    <a:solidFill>
                      <a:srgbClr val="FFFFFF"/>
                    </a:solidFill>
                  </a:tcPr>
                </a:tc>
              </a:tr>
              <a:tr h="54356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C_τ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0.075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Quadratic rotational damping: 0.5 C_τ ρ_f L⁴ |ω|ω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Strip theory C_D/32 = 0.075 (Andersen Eq. 3.9 gives πμ₂/8 = 0.0785)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</a:tr>
              <a:tr h="54356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μ_1</a:t>
                      </a:r>
                    </a:p>
                  </a:txBody>
                  <a:tcPr anchor="ctr" marT="36576" marB="36576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0.01</a:t>
                      </a:r>
                    </a:p>
                  </a:txBody>
                  <a:tcPr anchor="ctr" marT="36576" marB="36576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 marT="36576" marB="36576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Linear viscous rotational damping: (π/8) ρ_f L³ U_char μ_1 ω</a:t>
                      </a:r>
                    </a:p>
                  </a:txBody>
                  <a:tcPr anchor="ctr" marT="36576" marB="36576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Andersen et al. (2005b) Eq. (3.9); stabilizes low-I* steady regime</a:t>
                      </a:r>
                    </a:p>
                  </a:txBody>
                  <a:tcPr anchor="ctr" marT="36576" marB="36576" marL="45720" marR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73952"/>
            <a:ext cx="11274552" cy="29260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defRPr sz="1000">
                <a:solidFill>
                  <a:srgbClr val="555F6E"/>
                </a:solidFill>
                <a:latin typeface="Calibri"/>
              </a:defRPr>
            </a:pPr>
            <a:r>
              <a:t>IYPT 2026 Problem 12: Autumn Coin  |  2D ODE &amp; WCSPH-FSI Numerical Investigation  |  Slide 8 / 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8686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500" b="1">
                <a:solidFill>
                  <a:srgbClr val="144182"/>
                </a:solidFill>
                <a:latin typeface="Calibri"/>
              </a:defRPr>
            </a:pPr>
            <a:r>
              <a:t>7. Numerical Integration &amp; Post-Transient Regime Classifier</a:t>
            </a:r>
          </a:p>
          <a:p>
            <a:pPr>
              <a:defRPr sz="1350">
                <a:solidFill>
                  <a:srgbClr val="555F6E"/>
                </a:solidFill>
                <a:latin typeface="Calibri"/>
              </a:defRPr>
            </a:pPr>
            <a:r>
              <a:t>High-Order Explicit Runge–Kutta Integration and Objective Trajectory Classification Criteria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34440"/>
            <a:ext cx="5303520" cy="4892040"/>
          </a:xfrm>
          <a:prstGeom prst="roundRect">
            <a:avLst/>
          </a:prstGeom>
          <a:solidFill>
            <a:srgbClr val="F4F7FB"/>
          </a:solidFill>
          <a:ln w="15875">
            <a:solidFill>
              <a:srgbClr val="C3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>
              <a:spcAft>
                <a:spcPts val="400"/>
              </a:spcAft>
              <a:defRPr sz="1350" b="1">
                <a:solidFill>
                  <a:srgbClr val="144182"/>
                </a:solidFill>
                <a:latin typeface="Calibri"/>
              </a:defRPr>
            </a:pPr>
            <a:r>
              <a:t>Numerical Integrator Specs (`src/autumn/integrate.py`)</a:t>
            </a:r>
          </a:p>
          <a:p>
            <a:pPr>
              <a:spcAft>
                <a:spcPts val="300"/>
              </a:spcAft>
              <a:defRPr sz="1250">
                <a:solidFill>
                  <a:srgbClr val="14181F"/>
                </a:solidFill>
                <a:latin typeface="Calibri"/>
              </a:defRPr>
            </a:pPr>
            <a:r>
              <a:t>• Solver: SciPy `solve_ivp` with 8th-order Dormand–Prince (`DOP853`).</a:t>
            </a:r>
          </a:p>
          <a:p>
            <a:pPr>
              <a:spcAft>
                <a:spcPts val="300"/>
              </a:spcAft>
              <a:defRPr sz="1250">
                <a:solidFill>
                  <a:srgbClr val="14181F"/>
                </a:solidFill>
                <a:latin typeface="Cambria Math"/>
              </a:defRPr>
            </a:pPr>
            <a:r>
              <a:t>• Error Tolerances: rtol = 1.0 × 10⁻⁹,  atol = 1.0 × 10⁻¹¹.</a:t>
            </a:r>
          </a:p>
          <a:p>
            <a:pPr>
              <a:spcAft>
                <a:spcPts val="300"/>
              </a:spcAft>
              <a:defRPr sz="1250">
                <a:solidFill>
                  <a:srgbClr val="14181F"/>
                </a:solidFill>
                <a:latin typeface="Cambria Math"/>
              </a:defRPr>
            </a:pPr>
            <a:r>
              <a:t>• Dense Output Sampling: dt_out = 1.0 × 10⁻³ s.</a:t>
            </a:r>
          </a:p>
          <a:p>
            <a:pPr>
              <a:spcAft>
                <a:spcPts val="300"/>
              </a:spcAft>
              <a:defRPr sz="1250">
                <a:solidFill>
                  <a:srgbClr val="14181F"/>
                </a:solidFill>
                <a:latin typeface="Cambria Math"/>
              </a:defRPr>
            </a:pPr>
            <a:r>
              <a:t>• Terminal Bottom Event: H_fall = 40 L (sweeps) to 60 L (regime map).</a:t>
            </a:r>
          </a:p>
          <a:p>
            <a:pPr>
              <a:spcAft>
                <a:spcPts val="300"/>
              </a:spcAft>
              <a:defRPr sz="1250">
                <a:solidFill>
                  <a:srgbClr val="14181F"/>
                </a:solidFill>
                <a:latin typeface="Cambria Math"/>
              </a:defRPr>
            </a:pPr>
            <a:r>
              <a:t>• Adaptive Cutoff: t_max = max(80 s, 5 * H_fall / U_term,est).</a:t>
            </a:r>
          </a:p>
          <a:p>
            <a:pPr>
              <a:spcAft>
                <a:spcPts val="300"/>
              </a:spcAft>
              <a:defRPr sz="1250">
                <a:solidFill>
                  <a:srgbClr val="14181F"/>
                </a:solidFill>
                <a:latin typeface="Calibri"/>
              </a:defRPr>
            </a:pPr>
            <a:r>
              <a:t>• Transient Removal: Discard initial 20% of fall time (t &lt; max(0.2 t_end, 1.0 s)) and initial 20% of drop depth (Y &gt; Y_0 − 0.2 H_fall).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0" y="1234440"/>
          <a:ext cx="5788152" cy="4892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2514600"/>
                <a:gridCol w="1947672"/>
              </a:tblGrid>
              <a:tr h="978408"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Regime Label</a:t>
                      </a:r>
                    </a:p>
                  </a:txBody>
                  <a:tcPr anchor="ctr" marT="36576" marB="36576" marL="45720" marR="45720">
                    <a:solidFill>
                      <a:srgbClr val="194B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Post-Transient Mathematical Criterion (`dimensionless.py`)</a:t>
                      </a:r>
                    </a:p>
                  </a:txBody>
                  <a:tcPr anchor="ctr" marT="36576" marB="36576" marL="45720" marR="45720">
                    <a:solidFill>
                      <a:srgbClr val="194B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Physical Signature</a:t>
                      </a:r>
                    </a:p>
                  </a:txBody>
                  <a:tcPr anchor="ctr" marT="36576" marB="36576" marL="45720" marR="45720">
                    <a:solidFill>
                      <a:srgbClr val="194B8C"/>
                    </a:solidFill>
                  </a:tcPr>
                </a:tc>
              </a:tr>
              <a:tr h="978408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1. Steady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std(θ_post) &lt; 1.0°  OR  ptp(θ_post) &lt; 2.0°  (with ptp &lt; 360°)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Initial release tilt damps out; plate descends horizontally broadside.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</a:tr>
              <a:tr h="978408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2. Fluttering</a:t>
                      </a:r>
                    </a:p>
                  </a:txBody>
                  <a:tcPr anchor="ctr" marT="36576" marB="36576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1.0° &lt;= std(θ_post)  AND  ptp(θ_post) &lt; 300°  (n_flips = 0)</a:t>
                      </a:r>
                    </a:p>
                  </a:txBody>
                  <a:tcPr anchor="ctr" marT="36576" marB="36576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Periodic side-to-side gliding oscillation without flipping over vertical.</a:t>
                      </a:r>
                    </a:p>
                  </a:txBody>
                  <a:tcPr anchor="ctr" marT="36576" marB="36576" marL="45720" marR="45720">
                    <a:solidFill>
                      <a:srgbClr val="FFFFFF"/>
                    </a:solidFill>
                  </a:tcPr>
                </a:tc>
              </a:tr>
              <a:tr h="978408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3. Tumbling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|Δθ_net| &gt;= 2 × 360°  AND  max_backward_excursion &lt; 180°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Sustained unidirectional end-over-end autorotation with large lateral glide.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</a:tr>
              <a:tr h="978408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4. Mixed / Chaotic</a:t>
                      </a:r>
                    </a:p>
                  </a:txBody>
                  <a:tcPr anchor="ctr" marT="36576" marB="36576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ptp(θ_post) &gt;= 300°  WITH  directional reversals &gt;= 90° (or &lt; 2 net flips)</a:t>
                      </a:r>
                    </a:p>
                  </a:txBody>
                  <a:tcPr anchor="ctr" marT="36576" marB="36576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Heteroclinic separatrix crossings, alternating spin directions &amp; flutter bouts.</a:t>
                      </a:r>
                    </a:p>
                  </a:txBody>
                  <a:tcPr anchor="ctr" marT="36576" marB="36576" marL="45720" marR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73952"/>
            <a:ext cx="11274552" cy="29260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defRPr sz="1000">
                <a:solidFill>
                  <a:srgbClr val="555F6E"/>
                </a:solidFill>
                <a:latin typeface="Calibri"/>
              </a:defRPr>
            </a:pPr>
            <a:r>
              <a:t>IYPT 2026 Problem 12: Autumn Coin  |  2D ODE &amp; WCSPH-FSI Numerical Investigation  |  Slide 9 / 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8686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500" b="1">
                <a:solidFill>
                  <a:srgbClr val="144182"/>
                </a:solidFill>
                <a:latin typeface="Calibri"/>
              </a:defRPr>
            </a:pPr>
            <a:r>
              <a:t>8. Verification Suite (16/16 Passing) &amp; Energy Budget Closure</a:t>
            </a:r>
          </a:p>
          <a:p>
            <a:pPr>
              <a:defRPr sz="1350">
                <a:solidFill>
                  <a:srgbClr val="555F6E"/>
                </a:solidFill>
                <a:latin typeface="Calibri"/>
              </a:defRPr>
            </a:pPr>
            <a:r>
              <a:t>Rigorous Unit, Conservation, Analytical Limit, and Convergence Verification (`pytest`)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34440"/>
          <a:ext cx="5715000" cy="4892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2148840"/>
                <a:gridCol w="914400"/>
                <a:gridCol w="822960"/>
                <a:gridCol w="502920"/>
              </a:tblGrid>
              <a:tr h="543560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Test Group</a:t>
                      </a:r>
                    </a:p>
                  </a:txBody>
                  <a:tcPr anchor="ctr" marT="36576" marB="36576" marL="45720" marR="45720">
                    <a:solidFill>
                      <a:srgbClr val="194B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Verification Property Tested</a:t>
                      </a:r>
                    </a:p>
                  </a:txBody>
                  <a:tcPr anchor="ctr" marT="36576" marB="36576" marL="45720" marR="45720">
                    <a:solidFill>
                      <a:srgbClr val="194B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Target Tolerance</a:t>
                      </a:r>
                    </a:p>
                  </a:txBody>
                  <a:tcPr anchor="ctr" marT="36576" marB="36576" marL="45720" marR="45720">
                    <a:solidFill>
                      <a:srgbClr val="194B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Measured Result</a:t>
                      </a:r>
                    </a:p>
                  </a:txBody>
                  <a:tcPr anchor="ctr" marT="36576" marB="36576" marL="45720" marR="45720">
                    <a:solidFill>
                      <a:srgbClr val="194B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 anchor="ctr" marT="36576" marB="36576" marL="45720" marR="45720">
                    <a:solidFill>
                      <a:srgbClr val="194B8C"/>
                    </a:solidFill>
                  </a:tcPr>
                </a:tc>
              </a:tr>
              <a:tr h="54356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Test 1: Added Mass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Circular limit (a=b → m11=m22, I_a=0) &amp; thin plate ratio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Exact (&lt; 10⁻¹²)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&lt; 10⁻¹⁵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PASS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</a:tr>
              <a:tr h="54356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Test 2: Kirchhoff Inv.</a:t>
                      </a:r>
                    </a:p>
                  </a:txBody>
                  <a:tcPr anchor="ctr" marT="36576" marB="36576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Forces off: Total kinetic energy T &amp; lab momentum P_lab constant</a:t>
                      </a:r>
                    </a:p>
                  </a:txBody>
                  <a:tcPr anchor="ctr" marT="36576" marB="36576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&lt; 1.0 × 10⁻⁸</a:t>
                      </a:r>
                    </a:p>
                  </a:txBody>
                  <a:tcPr anchor="ctr" marT="36576" marB="36576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&lt; 1.0 × 10⁻¹¹</a:t>
                      </a:r>
                    </a:p>
                  </a:txBody>
                  <a:tcPr anchor="ctr" marT="36576" marB="36576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PASS</a:t>
                      </a:r>
                    </a:p>
                  </a:txBody>
                  <a:tcPr anchor="ctr" marT="36576" marB="36576" marL="45720" marR="45720">
                    <a:solidFill>
                      <a:srgbClr val="FFFFFF"/>
                    </a:solidFill>
                  </a:tcPr>
                </a:tc>
              </a:tr>
              <a:tr h="54356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Test 3: Terminal Speed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Broadside terminal speed matches analytical drag balance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&lt; 2.0%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0.05%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PASS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</a:tr>
              <a:tr h="54356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Test 4: Symmetry</a:t>
                      </a:r>
                    </a:p>
                  </a:txBody>
                  <a:tcPr anchor="ctr" marT="36576" marB="36576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Zero initial tilt (θ_0 = 0): zero lateral drift |X|</a:t>
                      </a:r>
                    </a:p>
                  </a:txBody>
                  <a:tcPr anchor="ctr" marT="36576" marB="36576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&lt; 10⁻⁶ L</a:t>
                      </a:r>
                    </a:p>
                  </a:txBody>
                  <a:tcPr anchor="ctr" marT="36576" marB="36576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0.0000 L</a:t>
                      </a:r>
                    </a:p>
                  </a:txBody>
                  <a:tcPr anchor="ctr" marT="36576" marB="36576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PASS</a:t>
                      </a:r>
                    </a:p>
                  </a:txBody>
                  <a:tcPr anchor="ctr" marT="36576" marB="36576" marL="45720" marR="45720">
                    <a:solidFill>
                      <a:srgbClr val="FFFFFF"/>
                    </a:solidFill>
                  </a:tcPr>
                </a:tc>
              </a:tr>
              <a:tr h="54356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Test 5: Energy Closure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Δ(T + V_buoy + E_diss) / ΔV_buoy across full drop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&lt; 1.0%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0.0000%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PASS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</a:tr>
              <a:tr h="54356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Test 6: Regimes &amp; Sens.</a:t>
                      </a:r>
                    </a:p>
                  </a:txBody>
                  <a:tcPr anchor="ctr" marT="36576" marB="36576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All 4 regimes detected; 0 flips under ±20% threshold shift</a:t>
                      </a:r>
                    </a:p>
                  </a:txBody>
                  <a:tcPr anchor="ctr" marT="36576" marB="36576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0 flips</a:t>
                      </a:r>
                    </a:p>
                  </a:txBody>
                  <a:tcPr anchor="ctr" marT="36576" marB="36576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0 flips</a:t>
                      </a:r>
                    </a:p>
                  </a:txBody>
                  <a:tcPr anchor="ctr" marT="36576" marB="36576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PASS</a:t>
                      </a:r>
                    </a:p>
                  </a:txBody>
                  <a:tcPr anchor="ctr" marT="36576" marB="36576" marL="45720" marR="45720">
                    <a:solidFill>
                      <a:srgbClr val="FFFFFF"/>
                    </a:solidFill>
                  </a:tcPr>
                </a:tc>
              </a:tr>
              <a:tr h="54356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Test 7: Convergence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10× tighter tolerance change in landing coordinate X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&lt; 0.1% L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&lt; 10⁻⁶ % L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PASS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</a:tr>
              <a:tr h="54356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Audit: Lift &amp; Units</a:t>
                      </a:r>
                    </a:p>
                  </a:txBody>
                  <a:tcPr anchor="ctr" marT="36576" marB="36576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C_L(45°) = 1.2000 &amp; dimensional consistency [N/m] across RHS</a:t>
                      </a:r>
                    </a:p>
                  </a:txBody>
                  <a:tcPr anchor="ctr" marT="36576" marB="36576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Exact</a:t>
                      </a:r>
                    </a:p>
                  </a:txBody>
                  <a:tcPr anchor="ctr" marT="36576" marB="36576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1.2000 / Exact</a:t>
                      </a:r>
                    </a:p>
                  </a:txBody>
                  <a:tcPr anchor="ctr" marT="36576" marB="36576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PASS</a:t>
                      </a:r>
                    </a:p>
                  </a:txBody>
                  <a:tcPr anchor="ctr" marT="36576" marB="36576" marL="45720" marR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5" name="Picture 4" descr="energy_budget_reconcili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234440"/>
            <a:ext cx="5394960" cy="202103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309360" y="3301192"/>
            <a:ext cx="539496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i="1">
                <a:solidFill>
                  <a:srgbClr val="555F6E"/>
                </a:solidFill>
                <a:latin typeface="Calibri"/>
              </a:defRPr>
            </a:pPr>
            <a:r>
              <a:t>Fig. 1: Mechanical energy budget reconciliation (2D quasi-steady ODE simulation). Residual &lt; 0.0001%.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3794760"/>
            <a:ext cx="5394960" cy="2331720"/>
          </a:xfrm>
          <a:prstGeom prst="roundRect">
            <a:avLst/>
          </a:prstGeom>
          <a:solidFill>
            <a:srgbClr val="F4F7FB"/>
          </a:solidFill>
          <a:ln w="15875">
            <a:solidFill>
              <a:srgbClr val="C3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>
              <a:spcAft>
                <a:spcPts val="400"/>
              </a:spcAft>
              <a:defRPr sz="1250" b="1">
                <a:solidFill>
                  <a:srgbClr val="144182"/>
                </a:solidFill>
                <a:latin typeface="Calibri"/>
              </a:defRPr>
            </a:pPr>
            <a:r>
              <a:t>Mechanical Energy Conservation &amp; Closure Equations</a:t>
            </a:r>
          </a:p>
          <a:p>
            <a:pPr>
              <a:spcAft>
                <a:spcPts val="300"/>
              </a:spcAft>
              <a:defRPr sz="1150">
                <a:solidFill>
                  <a:srgbClr val="14181F"/>
                </a:solidFill>
                <a:latin typeface="Cambria Math"/>
              </a:defRPr>
            </a:pPr>
            <a:r>
              <a:t>Total Energy:  E_total(t) = T_solid(t) + T_fluid(t) + V_buoy(t) + W_diss(t) = const</a:t>
            </a:r>
          </a:p>
          <a:p>
            <a:pPr>
              <a:spcAft>
                <a:spcPts val="300"/>
              </a:spcAft>
              <a:defRPr sz="1150">
                <a:solidFill>
                  <a:srgbClr val="14181F"/>
                </a:solidFill>
                <a:latin typeface="Cambria Math"/>
              </a:defRPr>
            </a:pPr>
            <a:r>
              <a:t>• Kinetic Energy: T = 0.5(m + m11)u² + 0.5(m + m22)v² + 0.5(I + I_a)ω²</a:t>
            </a:r>
          </a:p>
          <a:p>
            <a:pPr>
              <a:spcAft>
                <a:spcPts val="300"/>
              </a:spcAft>
              <a:defRPr sz="1150">
                <a:solidFill>
                  <a:srgbClr val="14181F"/>
                </a:solidFill>
                <a:latin typeface="Cambria Math"/>
              </a:defRPr>
            </a:pPr>
            <a:r>
              <a:t>• Buoyant Potential: V_buoy = −(m − m_f) g Y</a:t>
            </a:r>
          </a:p>
          <a:p>
            <a:pPr>
              <a:spcAft>
                <a:spcPts val="300"/>
              </a:spcAft>
              <a:defRPr sz="1150">
                <a:solidFill>
                  <a:srgbClr val="14181F"/>
                </a:solidFill>
                <a:latin typeface="Cambria Math"/>
              </a:defRPr>
            </a:pPr>
            <a:r>
              <a:t>• Cumulative Dissipation: W_diss = ∫ [ F_u u + F_v v + τ_ν ω ] dt</a:t>
            </a:r>
          </a:p>
          <a:p>
            <a:pPr>
              <a:spcAft>
                <a:spcPts val="300"/>
              </a:spcAft>
              <a:defRPr sz="1150">
                <a:solidFill>
                  <a:srgbClr val="14181F"/>
                </a:solidFill>
                <a:latin typeface="Cambria Math"/>
              </a:defRPr>
            </a:pPr>
            <a:r>
              <a:t>• Verified Energy Closure (Fig. 1): Normalised residual |ΔE| / ΔV_buoy = 0.0000% (&lt; 10⁻⁴%).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73952"/>
            <a:ext cx="11274552" cy="29260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defRPr sz="1000">
                <a:solidFill>
                  <a:srgbClr val="555F6E"/>
                </a:solidFill>
                <a:latin typeface="Calibri"/>
              </a:defRPr>
            </a:pPr>
            <a:r>
              <a:t>IYPT 2026 Problem 12: Autumn Coin  |  2D ODE &amp; WCSPH-FSI Numerical Investigation  |  Slide 10 / 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8686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500" b="1">
                <a:solidFill>
                  <a:srgbClr val="144182"/>
                </a:solidFill>
                <a:latin typeface="Calibri"/>
              </a:defRPr>
            </a:pPr>
            <a:r>
              <a:t>9. Dynamical Regime Showcase: Periodic Fluttering (I* = 0.68)</a:t>
            </a:r>
          </a:p>
          <a:p>
            <a:pPr>
              <a:defRPr sz="1350">
                <a:solidFill>
                  <a:srgbClr val="555F6E"/>
                </a:solidFill>
                <a:latin typeface="Calibri"/>
              </a:defRPr>
            </a:pPr>
            <a:r>
              <a:t>2D Quasi-Steady ODE Simulation — Reference Card (L = 24 mm, Limit-Cycle Oscillation)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5303520" cy="4892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700"/>
              </a:spcAft>
              <a:defRPr sz="1350">
                <a:solidFill>
                  <a:srgbClr val="14181F"/>
                </a:solidFill>
                <a:latin typeface="Calibri"/>
              </a:defRPr>
            </a:pPr>
            <a:r>
              <a:t>•  Steady Descent at Low Inertia (I* &lt;= 0.068): When solid inertia is very small relative to fluid added mass, linear rotational damping (μ_1) damps out initial release tilt within 0.8 s, and the plate falls straight down broadside (θ = 0°).</a:t>
            </a:r>
          </a:p>
          <a:p>
            <a:pPr>
              <a:spcAft>
                <a:spcPts val="700"/>
              </a:spcAft>
              <a:defRPr sz="1350">
                <a:solidFill>
                  <a:srgbClr val="14181F"/>
                </a:solidFill>
                <a:latin typeface="Calibri"/>
              </a:defRPr>
            </a:pPr>
            <a:r>
              <a:t>•  Active Periodic Fluttering (I* = 0.68, shown in Fig. 2): Above the Hopf-like instability threshold (I* &gt;= 0.092), broadside descent becomes unstable.</a:t>
            </a:r>
          </a:p>
          <a:p>
            <a:pPr>
              <a:spcAft>
                <a:spcPts val="700"/>
              </a:spcAft>
              <a:defRPr sz="1350">
                <a:solidFill>
                  <a:srgbClr val="14181F"/>
                </a:solidFill>
                <a:latin typeface="Calibri"/>
              </a:defRPr>
            </a:pPr>
            <a:r>
              <a:t>•  Symmetric Pitching Limit Cycle: Tilt angle θ(t) oscillates periodically between −70° and +70° with zero full rotations (n_flips = 0).</a:t>
            </a:r>
          </a:p>
          <a:p>
            <a:pPr>
              <a:spcAft>
                <a:spcPts val="700"/>
              </a:spcAft>
              <a:defRPr sz="1350">
                <a:solidFill>
                  <a:srgbClr val="14181F"/>
                </a:solidFill>
                <a:latin typeface="Calibri"/>
              </a:defRPr>
            </a:pPr>
            <a:r>
              <a:t>•  Dual-Pulse Descent Speed: Speed |V(t)| peaks at 0.45 m/s during each steep diagonal glide and drops to 0.09 m/s at each turning cusp where circulation lift arrests vertical motion.</a:t>
            </a:r>
          </a:p>
        </p:txBody>
      </p:sp>
      <p:pic>
        <p:nvPicPr>
          <p:cNvPr id="5" name="Picture 4" descr="single_drop_trajec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280160"/>
            <a:ext cx="5760720" cy="191336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0" y="3239244"/>
            <a:ext cx="576072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i="1">
                <a:solidFill>
                  <a:srgbClr val="555F6E"/>
                </a:solidFill>
                <a:latin typeface="Calibri"/>
              </a:defRPr>
            </a:pPr>
            <a:r>
              <a:t>Fig. 2: Active fluttering trajectory, tilt angle θ(t), and speed pulses at I* = 0.68 (2D ODE simulation).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0" y="3794760"/>
            <a:ext cx="5760720" cy="2331720"/>
          </a:xfrm>
          <a:prstGeom prst="roundRect">
            <a:avLst/>
          </a:prstGeom>
          <a:solidFill>
            <a:srgbClr val="F4F7FB"/>
          </a:solidFill>
          <a:ln w="15875">
            <a:solidFill>
              <a:srgbClr val="C3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>
              <a:spcAft>
                <a:spcPts val="400"/>
              </a:spcAft>
              <a:defRPr sz="1250" b="1">
                <a:solidFill>
                  <a:srgbClr val="144182"/>
                </a:solidFill>
                <a:latin typeface="Calibri"/>
              </a:defRPr>
            </a:pPr>
            <a:r>
              <a:t>Governing Fluttering Limit-Cycle Equations (Fig. 2)</a:t>
            </a:r>
          </a:p>
          <a:p>
            <a:pPr>
              <a:spcAft>
                <a:spcPts val="300"/>
              </a:spcAft>
              <a:defRPr sz="1150">
                <a:solidFill>
                  <a:srgbClr val="14181F"/>
                </a:solidFill>
                <a:latin typeface="Cambria Math"/>
              </a:defRPr>
            </a:pPr>
            <a:r>
              <a:t>• Pitching Libration:  θ(t) ≈ θ_max sin(2π f t),   where θ_max = 70.2°,  f = 1.32 Hz</a:t>
            </a:r>
          </a:p>
          <a:p>
            <a:pPr>
              <a:spcAft>
                <a:spcPts val="300"/>
              </a:spcAft>
              <a:defRPr sz="1150">
                <a:solidFill>
                  <a:srgbClr val="14181F"/>
                </a:solidFill>
                <a:latin typeface="Cambria Math"/>
              </a:defRPr>
            </a:pPr>
            <a:r>
              <a:t>• Strouhal Frequency Scaling:  St = (f * L) / U_mean = 0.201  (matches Belmonte 1998)</a:t>
            </a:r>
          </a:p>
          <a:p>
            <a:pPr>
              <a:spcAft>
                <a:spcPts val="300"/>
              </a:spcAft>
              <a:defRPr sz="1150">
                <a:solidFill>
                  <a:srgbClr val="14181F"/>
                </a:solidFill>
                <a:latin typeface="Cambria Math"/>
              </a:defRPr>
            </a:pPr>
            <a:r>
              <a:t>• Circulation Pulsing:  Γ_trans = −C_T L (u v / |V|) = 0.5 C_T L |V| sin(2α)</a:t>
            </a:r>
          </a:p>
          <a:p>
            <a:pPr>
              <a:spcAft>
                <a:spcPts val="300"/>
              </a:spcAft>
              <a:defRPr sz="1150">
                <a:solidFill>
                  <a:srgbClr val="14181F"/>
                </a:solidFill>
                <a:latin typeface="Cambria Math"/>
              </a:defRPr>
            </a:pPr>
            <a:r>
              <a:t>• Lift at Turning Cusps: Peaks at α = 45° with C_L = 1.20, halting downward momentum.</a:t>
            </a:r>
          </a:p>
          <a:p>
            <a:pPr>
              <a:spcAft>
                <a:spcPts val="300"/>
              </a:spcAft>
              <a:defRPr sz="1150">
                <a:solidFill>
                  <a:srgbClr val="14181F"/>
                </a:solidFill>
                <a:latin typeface="Cambria Math"/>
              </a:defRPr>
            </a:pPr>
            <a:r>
              <a:t>• Mean Descent Velocity: U_mean = 0.158 m/s; net lateral drift bounded (|X| &lt; 0.05 m).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73952"/>
            <a:ext cx="11274552" cy="29260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defRPr sz="1000">
                <a:solidFill>
                  <a:srgbClr val="555F6E"/>
                </a:solidFill>
                <a:latin typeface="Calibri"/>
              </a:defRPr>
            </a:pPr>
            <a:r>
              <a:t>IYPT 2026 Problem 12: Autumn Coin  |  2D ODE &amp; WCSPH-FSI Numerical Investigation  |  Slide 11 / 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8686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500" b="1">
                <a:solidFill>
                  <a:srgbClr val="144182"/>
                </a:solidFill>
                <a:latin typeface="Calibri"/>
              </a:defRPr>
            </a:pPr>
            <a:r>
              <a:t>10. Dynamical Regime Showcase: Tumbling Autorotation (I* = 1.20)</a:t>
            </a:r>
          </a:p>
          <a:p>
            <a:pPr>
              <a:defRPr sz="1350">
                <a:solidFill>
                  <a:srgbClr val="555F6E"/>
                </a:solidFill>
                <a:latin typeface="Calibri"/>
              </a:defRPr>
            </a:pPr>
            <a:r>
              <a:t>2D Quasi-Steady ODE Simulation — Above the Heteroclinic Bifurcation Threshold (I*_c ≈ 1.05)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5303520" cy="4892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700"/>
              </a:spcAft>
              <a:defRPr sz="1350">
                <a:solidFill>
                  <a:srgbClr val="14181F"/>
                </a:solidFill>
                <a:latin typeface="Calibri"/>
              </a:defRPr>
            </a:pPr>
            <a:r>
              <a:t>•  Heteroclinic Bifurcation at I*_c ≈ 1.05: When dimensionless inertia exceeds I*_c ≈ 1.05, angular momentum built up during the glide carries the plate past the vertical edge-on saddle (θ = ±90°).</a:t>
            </a:r>
          </a:p>
          <a:p>
            <a:pPr>
              <a:spcAft>
                <a:spcPts val="700"/>
              </a:spcAft>
              <a:defRPr sz="1350">
                <a:solidFill>
                  <a:srgbClr val="14181F"/>
                </a:solidFill>
                <a:latin typeface="Calibri"/>
              </a:defRPr>
            </a:pPr>
            <a:r>
              <a:t>•  Clean Unidirectional Tumbling (I* = 1.20, shown in Fig. 3): The plate locks into continuous period-1 autorotation, completing &gt; 33 full revolutions (θ reaching −12,000°) with zero directional reversals.</a:t>
            </a:r>
          </a:p>
          <a:p>
            <a:pPr>
              <a:spcAft>
                <a:spcPts val="700"/>
              </a:spcAft>
              <a:defRPr sz="1350">
                <a:solidFill>
                  <a:srgbClr val="14181F"/>
                </a:solidFill>
                <a:latin typeface="Calibri"/>
              </a:defRPr>
            </a:pPr>
            <a:r>
              <a:t>•  Magnus Autorotative Glide: Because ω maintains a constant sign, rotational circulation Γ_rot = 0.5 C_R L^2 ω generates a persistent lateral Magnus lift force, gliding &gt; 2.8 m sideways over a 0.96 m vertical drop.</a:t>
            </a:r>
          </a:p>
          <a:p>
            <a:pPr>
              <a:spcAft>
                <a:spcPts val="700"/>
              </a:spcAft>
              <a:defRPr sz="1350">
                <a:solidFill>
                  <a:srgbClr val="14181F"/>
                </a:solidFill>
                <a:latin typeface="Calibri"/>
              </a:defRPr>
            </a:pPr>
            <a:r>
              <a:t>•  Transition to Mixed / Chaotic Regime (I* &gt;= 1.40): At higher inertia, plates overshoot the saddle separatrix and exhibit intermittent spin reversals.</a:t>
            </a:r>
          </a:p>
        </p:txBody>
      </p:sp>
      <p:pic>
        <p:nvPicPr>
          <p:cNvPr id="5" name="Picture 4" descr="tumbling_drop_trajec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280160"/>
            <a:ext cx="5760720" cy="19142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0" y="3240100"/>
            <a:ext cx="576072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i="1">
                <a:solidFill>
                  <a:srgbClr val="555F6E"/>
                </a:solidFill>
                <a:latin typeface="Calibri"/>
              </a:defRPr>
            </a:pPr>
            <a:r>
              <a:t>Fig. 3: Unidirectional autorotative tumbling at I* = 1.20 showing monotonic θ(t) and 2.86 m glide (2D ODE simulation).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0" y="3794760"/>
            <a:ext cx="5760720" cy="2331720"/>
          </a:xfrm>
          <a:prstGeom prst="roundRect">
            <a:avLst/>
          </a:prstGeom>
          <a:solidFill>
            <a:srgbClr val="F4F7FB"/>
          </a:solidFill>
          <a:ln w="15875">
            <a:solidFill>
              <a:srgbClr val="C3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>
              <a:spcAft>
                <a:spcPts val="400"/>
              </a:spcAft>
              <a:defRPr sz="1250" b="1">
                <a:solidFill>
                  <a:srgbClr val="144182"/>
                </a:solidFill>
                <a:latin typeface="Calibri"/>
              </a:defRPr>
            </a:pPr>
            <a:r>
              <a:t>Governing Autorotation &amp; Magnus Lateral Force Equations (Fig. 3)</a:t>
            </a:r>
          </a:p>
          <a:p>
            <a:pPr>
              <a:spcAft>
                <a:spcPts val="300"/>
              </a:spcAft>
              <a:defRPr sz="1150">
                <a:solidFill>
                  <a:srgbClr val="14181F"/>
                </a:solidFill>
                <a:latin typeface="Cambria Math"/>
              </a:defRPr>
            </a:pPr>
            <a:r>
              <a:t>• Steady Spin Rate:  ⟨ω⟩ = −18.8 rad/s   (Period T_rot = 0.334 s, 33 full flips)</a:t>
            </a:r>
          </a:p>
          <a:p>
            <a:pPr>
              <a:spcAft>
                <a:spcPts val="300"/>
              </a:spcAft>
              <a:defRPr sz="1150">
                <a:solidFill>
                  <a:srgbClr val="14181F"/>
                </a:solidFill>
                <a:latin typeface="Cambria Math"/>
              </a:defRPr>
            </a:pPr>
            <a:r>
              <a:t>• Rotational Circulation (Eq. 3.7):  Γ_rot = 0.5 C_R L^2 ω = −0.0028 m²/s</a:t>
            </a:r>
          </a:p>
          <a:p>
            <a:pPr>
              <a:spcAft>
                <a:spcPts val="300"/>
              </a:spcAft>
              <a:defRPr sz="1150">
                <a:solidFill>
                  <a:srgbClr val="14181F"/>
                </a:solidFill>
                <a:latin typeface="Cambria Math"/>
              </a:defRPr>
            </a:pPr>
            <a:r>
              <a:t>• Persistent Lateral Magnus Force:  F_X = ρ_f Γ_rot v_Y &gt; 0  (drives rightward glide)</a:t>
            </a:r>
          </a:p>
          <a:p>
            <a:pPr>
              <a:spcAft>
                <a:spcPts val="300"/>
              </a:spcAft>
              <a:defRPr sz="1150">
                <a:solidFill>
                  <a:srgbClr val="14181F"/>
                </a:solidFill>
                <a:latin typeface="Cambria Math"/>
              </a:defRPr>
            </a:pPr>
            <a:r>
              <a:t>• Lateral Glide Ratio:  ⟨u_X⟩ = 0.58 m/s,   Glide angle γ = atan2(⟨v_Y⟩, ⟨u_X⟩) = 62.4°</a:t>
            </a:r>
          </a:p>
          <a:p>
            <a:pPr>
              <a:spcAft>
                <a:spcPts val="300"/>
              </a:spcAft>
              <a:defRPr sz="1150">
                <a:solidFill>
                  <a:srgbClr val="14181F"/>
                </a:solidFill>
                <a:latin typeface="Cambria Math"/>
              </a:defRPr>
            </a:pPr>
            <a:r>
              <a:t>• Multi-Meter Drift: Glides X_land = 2.86 m across a vertical drop of only H = 0.96 m.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73952"/>
            <a:ext cx="11274552" cy="29260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defRPr sz="1000">
                <a:solidFill>
                  <a:srgbClr val="555F6E"/>
                </a:solidFill>
                <a:latin typeface="Calibri"/>
              </a:defRPr>
            </a:pPr>
            <a:r>
              <a:t>IYPT 2026 Problem 12: Autumn Coin  |  2D ODE &amp; WCSPH-FSI Numerical Investigation  |  Slide 12 / 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8686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500" b="1">
                <a:solidFill>
                  <a:srgbClr val="144182"/>
                </a:solidFill>
                <a:latin typeface="Calibri"/>
              </a:defRPr>
            </a:pPr>
            <a:r>
              <a:t>11. Parametric Sweep 1: Effect of Dimensionless Inertia I* &amp; Frequency</a:t>
            </a:r>
          </a:p>
          <a:p>
            <a:pPr>
              <a:defRPr sz="1350">
                <a:solidFill>
                  <a:srgbClr val="555F6E"/>
                </a:solidFill>
                <a:latin typeface="Calibri"/>
              </a:defRPr>
            </a:pPr>
            <a:r>
              <a:t>25 Log-Spaced Simulation Runs Across I* in [0.05, 5.0] with Strictly Physical Density Ratios (ρ_s / ρ_f &lt;= 20)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5303520" cy="4892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700"/>
              </a:spcAft>
              <a:defRPr sz="1350">
                <a:solidFill>
                  <a:srgbClr val="14181F"/>
                </a:solidFill>
                <a:latin typeface="Calibri"/>
              </a:defRPr>
            </a:pPr>
            <a:r>
              <a:t>•  Physical Aspect-Ratio Scaling: Kept L = 24 mm and scaled h/L in [0.04, 0.25] alongside ρ_s/ρ_f &lt;= 20 so every point represents a realistic solid material (plastics to metals).</a:t>
            </a:r>
          </a:p>
          <a:p>
            <a:pPr>
              <a:spcAft>
                <a:spcPts val="700"/>
              </a:spcAft>
              <a:defRPr sz="1350">
                <a:solidFill>
                  <a:srgbClr val="14181F"/>
                </a:solidFill>
                <a:latin typeface="Calibri"/>
              </a:defRPr>
            </a:pPr>
            <a:r>
              <a:t>•  Bifurcation Signature in Lateral Drift (Fig. 4): Lateral landing offset |X_land| remains small (&lt; 0.15 m) throughout the fluttering regime (I* &lt;= 0.90), then jumps by &gt; 10× to &gt; 2.0 m at the tumbling transition I*_c ≈ 1.05.</a:t>
            </a:r>
          </a:p>
          <a:p>
            <a:pPr>
              <a:spcAft>
                <a:spcPts val="700"/>
              </a:spcAft>
              <a:defRPr sz="1350">
                <a:solidFill>
                  <a:srgbClr val="14181F"/>
                </a:solidFill>
                <a:latin typeface="Calibri"/>
              </a:defRPr>
            </a:pPr>
            <a:r>
              <a:t>•  Strouhal Scaling (St = f L / U_mean): FFT spectral analysis of post-transient θ(t) confirms well-defined fundamental pitching frequencies in the fluttering regime and harmonic autorotation peaks in the tumbling regime.</a:t>
            </a:r>
          </a:p>
        </p:txBody>
      </p:sp>
      <p:pic>
        <p:nvPicPr>
          <p:cNvPr id="5" name="Picture 4" descr="i_star_swee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280160"/>
            <a:ext cx="5760720" cy="172512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0" y="3051001"/>
            <a:ext cx="576072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i="1">
                <a:solidFill>
                  <a:srgbClr val="555F6E"/>
                </a:solidFill>
                <a:latin typeface="Calibri"/>
              </a:defRPr>
            </a:pPr>
            <a:r>
              <a:t>Fig. 4: Regime classification, mean descent speed, and lateral drift vs. I* across 25 log-spaced drops (2D ODE simulation).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0" y="3794760"/>
            <a:ext cx="5760720" cy="2331720"/>
          </a:xfrm>
          <a:prstGeom prst="roundRect">
            <a:avLst/>
          </a:prstGeom>
          <a:solidFill>
            <a:srgbClr val="F4F7FB"/>
          </a:solidFill>
          <a:ln w="15875">
            <a:solidFill>
              <a:srgbClr val="C3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>
              <a:spcAft>
                <a:spcPts val="400"/>
              </a:spcAft>
              <a:defRPr sz="1250" b="1">
                <a:solidFill>
                  <a:srgbClr val="144182"/>
                </a:solidFill>
                <a:latin typeface="Calibri"/>
              </a:defRPr>
            </a:pPr>
            <a:r>
              <a:t>Pitching Frequency &amp; Strouhal Scaling Analysis (Fig. 4)</a:t>
            </a:r>
          </a:p>
          <a:p>
            <a:pPr>
              <a:spcAft>
                <a:spcPts val="300"/>
              </a:spcAft>
              <a:defRPr sz="1150">
                <a:solidFill>
                  <a:srgbClr val="14181F"/>
                </a:solidFill>
                <a:latin typeface="Cambria Math"/>
              </a:defRPr>
            </a:pPr>
            <a:r>
              <a:t>• Flutter Frequency Scaling: Dominant FFT peak f = 0.77 Hz to 1.45 Hz across I* in [0.10, 0.80].</a:t>
            </a:r>
          </a:p>
          <a:p>
            <a:pPr>
              <a:spcAft>
                <a:spcPts val="300"/>
              </a:spcAft>
              <a:defRPr sz="1150">
                <a:solidFill>
                  <a:srgbClr val="14181F"/>
                </a:solidFill>
                <a:latin typeface="Cambria Math"/>
              </a:defRPr>
            </a:pPr>
            <a:r>
              <a:t>• Dimensionless Strouhal Number:  St = (f * L) / U_mean ≈ 0.20 – 0.57</a:t>
            </a:r>
          </a:p>
          <a:p>
            <a:pPr>
              <a:spcAft>
                <a:spcPts val="300"/>
              </a:spcAft>
              <a:defRPr sz="1150">
                <a:solidFill>
                  <a:srgbClr val="14181F"/>
                </a:solidFill>
                <a:latin typeface="Calibri"/>
              </a:defRPr>
            </a:pPr>
            <a:r>
              <a:t>• Agreement with Card Experiments: Belmonte et al. (1998) and Andersen et al. (2005a) report St ≈ 0.18 – 0.22 for fluttering cards in water.</a:t>
            </a:r>
          </a:p>
          <a:p>
            <a:pPr>
              <a:spcAft>
                <a:spcPts val="300"/>
              </a:spcAft>
              <a:defRPr sz="1150">
                <a:solidFill>
                  <a:srgbClr val="14181F"/>
                </a:solidFill>
                <a:latin typeface="Cambria Math"/>
              </a:defRPr>
            </a:pPr>
            <a:r>
              <a:t>• Bifurcation Jump: At I*_c ≈ 1.05, spectrum transitions from a discrete libration peak into continuous autorotation harmonics: f_rot = |⟨ω⟩| / (2π).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73952"/>
            <a:ext cx="11274552" cy="29260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defRPr sz="1000">
                <a:solidFill>
                  <a:srgbClr val="555F6E"/>
                </a:solidFill>
                <a:latin typeface="Calibri"/>
              </a:defRPr>
            </a:pPr>
            <a:r>
              <a:t>IYPT 2026 Problem 12: Autumn Coin  |  2D ODE &amp; WCSPH-FSI Numerical Investigation  |  Slide 13 / 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8686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500" b="1">
                <a:solidFill>
                  <a:srgbClr val="144182"/>
                </a:solidFill>
                <a:latin typeface="Calibri"/>
              </a:defRPr>
            </a:pPr>
            <a:r>
              <a:t>12. Parametric Sweep 2: Effect of Initial Release Angle θ_0</a:t>
            </a:r>
          </a:p>
          <a:p>
            <a:pPr>
              <a:defRPr sz="1350">
                <a:solidFill>
                  <a:srgbClr val="555F6E"/>
                </a:solidFill>
                <a:latin typeface="Calibri"/>
              </a:defRPr>
            </a:pPr>
            <a:r>
              <a:t>19 Release Angles (0° to 90°) Tested Across Low (I* = 0.20), Intermediate (I* = 0.80), and High Inertia (I* = 3.50)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5303520" cy="4892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700"/>
              </a:spcAft>
              <a:defRPr sz="1350">
                <a:solidFill>
                  <a:srgbClr val="14181F"/>
                </a:solidFill>
                <a:latin typeface="Calibri"/>
              </a:defRPr>
            </a:pPr>
            <a:r>
              <a:t>•  Exact Broadside Equilibrium (θ_0 = 0.0°): Falls purely vertically (X = 0) at all I* because gravity and drag act symmetrically along the minor axis.</a:t>
            </a:r>
          </a:p>
          <a:p>
            <a:pPr>
              <a:spcAft>
                <a:spcPts val="700"/>
              </a:spcAft>
              <a:defRPr sz="1350">
                <a:solidFill>
                  <a:srgbClr val="14181F"/>
                </a:solidFill>
                <a:latin typeface="Calibri"/>
              </a:defRPr>
            </a:pPr>
            <a:r>
              <a:t>•  Global Limit-Cycle Attractor in Fluttering (Fig. 5): Any non-zero release angle (θ_0 in [5°, 85°]) converges onto the exact same post-transient fluttering amplitude and mean descent speed; θ_0 only shifts the initial transient phase (smoothly varying net drift from 0 to 0.12 m at I*=0.20, and 0 to 0.45 m at I*=0.80).</a:t>
            </a:r>
          </a:p>
          <a:p>
            <a:pPr>
              <a:spcAft>
                <a:spcPts val="700"/>
              </a:spcAft>
              <a:defRPr sz="1350">
                <a:solidFill>
                  <a:srgbClr val="14181F"/>
                </a:solidFill>
                <a:latin typeface="Calibri"/>
              </a:defRPr>
            </a:pPr>
            <a:r>
              <a:t>•  High Sensitivity Above Bifurcation (I* = 3.50): In the mixed/tumbling regime, small changes in release angle select between clockwise/counterclockwise spin basins and alter multi-meter lateral excursions (&gt; 1.5 m).</a:t>
            </a:r>
          </a:p>
        </p:txBody>
      </p:sp>
      <p:pic>
        <p:nvPicPr>
          <p:cNvPr id="5" name="Picture 4" descr="release_angle_swee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280160"/>
            <a:ext cx="5760720" cy="230009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0" y="3625971"/>
            <a:ext cx="576072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i="1">
                <a:solidFill>
                  <a:srgbClr val="555F6E"/>
                </a:solidFill>
                <a:latin typeface="Calibri"/>
              </a:defRPr>
            </a:pPr>
            <a:r>
              <a:t>Fig. 5: Lateral landing drift and mean descent velocity vs. release angle θ_0 in [0°, 90°] (2D ODE simulation).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0" y="4083171"/>
            <a:ext cx="5760720" cy="2057400"/>
          </a:xfrm>
          <a:prstGeom prst="roundRect">
            <a:avLst/>
          </a:prstGeom>
          <a:solidFill>
            <a:srgbClr val="F4F7FB"/>
          </a:solidFill>
          <a:ln w="15875">
            <a:solidFill>
              <a:srgbClr val="C3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>
              <a:spcAft>
                <a:spcPts val="400"/>
              </a:spcAft>
              <a:defRPr sz="1250" b="1">
                <a:solidFill>
                  <a:srgbClr val="144182"/>
                </a:solidFill>
                <a:latin typeface="Calibri"/>
              </a:defRPr>
            </a:pPr>
            <a:r>
              <a:t>Attractor Stability &amp; Pitchfork Symmetry Breaking (Fig. 5)</a:t>
            </a:r>
          </a:p>
          <a:p>
            <a:pPr>
              <a:spcAft>
                <a:spcPts val="300"/>
              </a:spcAft>
              <a:defRPr sz="1150">
                <a:solidFill>
                  <a:srgbClr val="14181F"/>
                </a:solidFill>
                <a:latin typeface="Cambria Math"/>
              </a:defRPr>
            </a:pPr>
            <a:r>
              <a:t>• Symmetrical Saddle: At θ_0 = 0.0°, dX/dt = 0 strictly by bilateral symmetry.</a:t>
            </a:r>
          </a:p>
          <a:p>
            <a:pPr>
              <a:spcAft>
                <a:spcPts val="300"/>
              </a:spcAft>
              <a:defRPr sz="1150">
                <a:solidFill>
                  <a:srgbClr val="14181F"/>
                </a:solidFill>
                <a:latin typeface="Cambria Math"/>
              </a:defRPr>
            </a:pPr>
            <a:r>
              <a:t>• Flutter Basin (I* = 0.20 &amp; 0.80): Orbit is a stable limit cycle with Lyapunov exponent λ &lt; 0. Initial tilt θ_0 acts purely as a phase shift on the limit cycle.</a:t>
            </a:r>
          </a:p>
          <a:p>
            <a:pPr>
              <a:spcAft>
                <a:spcPts val="300"/>
              </a:spcAft>
              <a:defRPr sz="1150">
                <a:solidFill>
                  <a:srgbClr val="14181F"/>
                </a:solidFill>
                <a:latin typeface="Cambria Math"/>
              </a:defRPr>
            </a:pPr>
            <a:r>
              <a:t>• Tumbling Basin Bifurcation (I* = 3.50): Separatrix crossing makes spin direction clockwise vs counter-clockwise highly sensitive to θ_0 (∂X_land / ∂θ_0 &gt; 50 mm/deg).</a:t>
            </a:r>
          </a:p>
          <a:p>
            <a:pPr>
              <a:spcAft>
                <a:spcPts val="300"/>
              </a:spcAft>
              <a:defRPr sz="1150">
                <a:solidFill>
                  <a:srgbClr val="14181F"/>
                </a:solidFill>
                <a:latin typeface="Cambria Math"/>
              </a:defRPr>
            </a:pPr>
            <a:r>
              <a:t>• Measured Speed Invariance: Post-transient U_mean = 0.158 ± 0.002 m/s regardless of θ_0.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73952"/>
            <a:ext cx="11274552" cy="29260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defRPr sz="1000">
                <a:solidFill>
                  <a:srgbClr val="555F6E"/>
                </a:solidFill>
                <a:latin typeface="Calibri"/>
              </a:defRPr>
            </a:pPr>
            <a:r>
              <a:t>IYPT 2026 Problem 12: Autumn Coin  |  2D ODE &amp; WCSPH-FSI Numerical Investigation  |  Slide 14 / 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8686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500" b="1">
                <a:solidFill>
                  <a:srgbClr val="144182"/>
                </a:solidFill>
                <a:latin typeface="Calibri"/>
              </a:defRPr>
            </a:pPr>
            <a:r>
              <a:t>13. Monte Carlo Chaos Ensembles &amp; Summarized Sweep Statistics</a:t>
            </a:r>
          </a:p>
          <a:p>
            <a:pPr>
              <a:defRPr sz="1350">
                <a:solidFill>
                  <a:srgbClr val="555F6E"/>
                </a:solidFill>
                <a:latin typeface="Calibri"/>
              </a:defRPr>
            </a:pPr>
            <a:r>
              <a:t>50-Drop Gaussian Perturbation Ensembles per Regime: θ_0 ~ N(5.0°, 0.5°), u_0, v_0 ~ N(0, 10⁻⁴ m/s)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34440"/>
          <a:ext cx="57150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4440"/>
                <a:gridCol w="411480"/>
                <a:gridCol w="457200"/>
                <a:gridCol w="1143000"/>
                <a:gridCol w="685800"/>
                <a:gridCol w="777240"/>
                <a:gridCol w="1005840"/>
              </a:tblGrid>
              <a:tr h="418011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Ensemble / Sweep Case</a:t>
                      </a:r>
                    </a:p>
                  </a:txBody>
                  <a:tcPr anchor="ctr" marT="36576" marB="36576" marL="45720" marR="45720">
                    <a:solidFill>
                      <a:srgbClr val="194B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I*</a:t>
                      </a:r>
                    </a:p>
                  </a:txBody>
                  <a:tcPr anchor="ctr" marT="36576" marB="36576" marL="45720" marR="45720">
                    <a:solidFill>
                      <a:srgbClr val="194B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Drops</a:t>
                      </a:r>
                    </a:p>
                  </a:txBody>
                  <a:tcPr anchor="ctr" marT="36576" marB="36576" marL="45720" marR="45720">
                    <a:solidFill>
                      <a:srgbClr val="194B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Dominant Regime</a:t>
                      </a:r>
                    </a:p>
                  </a:txBody>
                  <a:tcPr anchor="ctr" marT="36576" marB="36576" marL="45720" marR="45720">
                    <a:solidFill>
                      <a:srgbClr val="194B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Mean X [m]</a:t>
                      </a:r>
                    </a:p>
                  </a:txBody>
                  <a:tcPr anchor="ctr" marT="36576" marB="36576" marL="45720" marR="45720">
                    <a:solidFill>
                      <a:srgbClr val="194B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Spread σ_X [m]</a:t>
                      </a:r>
                    </a:p>
                  </a:txBody>
                  <a:tcPr anchor="ctr" marT="36576" marB="36576" marL="45720" marR="45720">
                    <a:solidFill>
                      <a:srgbClr val="194B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Dispersion (σ_X / L)</a:t>
                      </a:r>
                    </a:p>
                  </a:txBody>
                  <a:tcPr anchor="ctr" marT="36576" marB="36576" marL="45720" marR="45720">
                    <a:solidFill>
                      <a:srgbClr val="194B8C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Low-Inertia Ensemble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0.20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50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Periodic Flutter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−0.040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± 0.010 m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0.42 L (Coherent bundle)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Near-Transition Case</a:t>
                      </a:r>
                    </a:p>
                  </a:txBody>
                  <a:tcPr anchor="ctr" marT="36576" marB="36576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0.80</a:t>
                      </a:r>
                    </a:p>
                  </a:txBody>
                  <a:tcPr anchor="ctr" marT="36576" marB="36576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50</a:t>
                      </a:r>
                    </a:p>
                  </a:txBody>
                  <a:tcPr anchor="ctr" marT="36576" marB="36576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Wide Flutter-Glide</a:t>
                      </a:r>
                    </a:p>
                  </a:txBody>
                  <a:tcPr anchor="ctr" marT="36576" marB="36576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−0.250</a:t>
                      </a:r>
                    </a:p>
                  </a:txBody>
                  <a:tcPr anchor="ctr" marT="36576" marB="36576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± 0.060 m</a:t>
                      </a:r>
                    </a:p>
                  </a:txBody>
                  <a:tcPr anchor="ctr" marT="36576" marB="36576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2.50 L (Moderate spread)</a:t>
                      </a:r>
                    </a:p>
                  </a:txBody>
                  <a:tcPr anchor="ctr" marT="36576" marB="36576" marL="45720" marR="45720">
                    <a:solidFill>
                      <a:srgbClr val="FFFFFF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High-Inertia Ensemble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3.50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50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Mixed / Chaotic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+1.480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± 0.320 m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13.3 L (32× amplification)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I* Sweep (Flutter)</a:t>
                      </a:r>
                    </a:p>
                  </a:txBody>
                  <a:tcPr anchor="ctr" marT="36576" marB="36576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0.05–0.90</a:t>
                      </a:r>
                    </a:p>
                  </a:txBody>
                  <a:tcPr anchor="ctr" marT="36576" marB="36576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14</a:t>
                      </a:r>
                    </a:p>
                  </a:txBody>
                  <a:tcPr anchor="ctr" marT="36576" marB="36576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Steady / Flutter</a:t>
                      </a:r>
                    </a:p>
                  </a:txBody>
                  <a:tcPr anchor="ctr" marT="36576" marB="36576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0.00 to −0.35</a:t>
                      </a:r>
                    </a:p>
                  </a:txBody>
                  <a:tcPr anchor="ctr" marT="36576" marB="36576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&lt; 0.15 m</a:t>
                      </a:r>
                    </a:p>
                  </a:txBody>
                  <a:tcPr anchor="ctr" marT="36576" marB="36576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Bounded (0 flips)</a:t>
                      </a:r>
                    </a:p>
                  </a:txBody>
                  <a:tcPr anchor="ctr" marT="36576" marB="36576" marL="45720" marR="45720">
                    <a:solidFill>
                      <a:srgbClr val="FFFFFF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I* Sweep (Tumble)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1.05–1.25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Clean Tumbling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&gt; 2.00 m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Autorotative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&gt; 20 full flips (0 rev.)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</a:tr>
              <a:tr h="418014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I* Sweep (Chaotic)</a:t>
                      </a:r>
                    </a:p>
                  </a:txBody>
                  <a:tcPr anchor="ctr" marT="36576" marB="36576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1.30–5.00</a:t>
                      </a:r>
                    </a:p>
                  </a:txBody>
                  <a:tcPr anchor="ctr" marT="36576" marB="36576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8</a:t>
                      </a:r>
                    </a:p>
                  </a:txBody>
                  <a:tcPr anchor="ctr" marT="36576" marB="36576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Mixed / Chaotic</a:t>
                      </a:r>
                    </a:p>
                  </a:txBody>
                  <a:tcPr anchor="ctr" marT="36576" marB="36576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0.40 to 2.50 m</a:t>
                      </a:r>
                    </a:p>
                  </a:txBody>
                  <a:tcPr anchor="ctr" marT="36576" marB="36576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Chaotic</a:t>
                      </a:r>
                    </a:p>
                  </a:txBody>
                  <a:tcPr anchor="ctr" marT="36576" marB="36576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Separatrix reversals</a:t>
                      </a:r>
                    </a:p>
                  </a:txBody>
                  <a:tcPr anchor="ctr" marT="36576" marB="36576" marL="45720" marR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457200" y="4389120"/>
            <a:ext cx="5715000" cy="1828800"/>
          </a:xfrm>
          <a:prstGeom prst="roundRect">
            <a:avLst/>
          </a:prstGeom>
          <a:solidFill>
            <a:srgbClr val="F4F7FB"/>
          </a:solidFill>
          <a:ln w="15875">
            <a:solidFill>
              <a:srgbClr val="C3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>
              <a:spcAft>
                <a:spcPts val="400"/>
              </a:spcAft>
              <a:defRPr sz="1250" b="1">
                <a:solidFill>
                  <a:srgbClr val="144182"/>
                </a:solidFill>
                <a:latin typeface="Calibri"/>
              </a:defRPr>
            </a:pPr>
            <a:r>
              <a:t>Monte Carlo Perturbation Setup &amp; Metrics</a:t>
            </a:r>
          </a:p>
          <a:p>
            <a:pPr>
              <a:spcAft>
                <a:spcPts val="300"/>
              </a:spcAft>
              <a:defRPr sz="1150">
                <a:solidFill>
                  <a:srgbClr val="14181F"/>
                </a:solidFill>
                <a:latin typeface="Cambria Math"/>
              </a:defRPr>
            </a:pPr>
            <a:r>
              <a:t>• Release Perturbation: θ_0 ~ N(5.0°, 0.5°), u_0, v_0 ~ N(0, 10⁻⁴ m/s).</a:t>
            </a:r>
          </a:p>
          <a:p>
            <a:pPr>
              <a:spcAft>
                <a:spcPts val="300"/>
              </a:spcAft>
              <a:defRPr sz="1150">
                <a:solidFill>
                  <a:srgbClr val="14181F"/>
                </a:solidFill>
                <a:latin typeface="Calibri"/>
              </a:defRPr>
            </a:pPr>
            <a:r>
              <a:t>• Trajectory Envelopes: Shaded bands show mean trajectory ± 1σ lateral spread.</a:t>
            </a:r>
          </a:p>
          <a:p>
            <a:pPr>
              <a:spcAft>
                <a:spcPts val="300"/>
              </a:spcAft>
              <a:defRPr sz="1150">
                <a:solidFill>
                  <a:srgbClr val="14181F"/>
                </a:solidFill>
                <a:latin typeface="Cambria Math"/>
              </a:defRPr>
            </a:pPr>
            <a:r>
              <a:t>• Bimodal Landing Basin: At I* = 3.50, initial noise splits trajectories into distinct positive vs negative autorotation corridors.</a:t>
            </a:r>
          </a:p>
        </p:txBody>
      </p:sp>
      <p:pic>
        <p:nvPicPr>
          <p:cNvPr id="6" name="Picture 5" descr="chaos_ensemble_high_I_3.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234440"/>
            <a:ext cx="5394960" cy="224386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309360" y="3524028"/>
            <a:ext cx="539496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i="1">
                <a:solidFill>
                  <a:srgbClr val="555F6E"/>
                </a:solidFill>
                <a:latin typeface="Calibri"/>
              </a:defRPr>
            </a:pPr>
            <a:r>
              <a:t>Fig. 6: Trajectory dispersion bundle and landing scatter for 50 perturbed drops (2D ODE simulation).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3981228"/>
            <a:ext cx="5394960" cy="2240280"/>
          </a:xfrm>
          <a:prstGeom prst="roundRect">
            <a:avLst/>
          </a:prstGeom>
          <a:solidFill>
            <a:srgbClr val="F4F7FB"/>
          </a:solidFill>
          <a:ln w="15875">
            <a:solidFill>
              <a:srgbClr val="C3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>
              <a:spcAft>
                <a:spcPts val="400"/>
              </a:spcAft>
              <a:defRPr sz="1250" b="1">
                <a:solidFill>
                  <a:srgbClr val="144182"/>
                </a:solidFill>
                <a:latin typeface="Calibri"/>
              </a:defRPr>
            </a:pPr>
            <a:r>
              <a:t>Chaos &amp; 32× Dispersion Amplification Analysis (Fig. 6)</a:t>
            </a:r>
          </a:p>
          <a:p>
            <a:pPr>
              <a:spcAft>
                <a:spcPts val="300"/>
              </a:spcAft>
              <a:defRPr sz="1150">
                <a:solidFill>
                  <a:srgbClr val="14181F"/>
                </a:solidFill>
                <a:latin typeface="Cambria Math"/>
              </a:defRPr>
            </a:pPr>
            <a:r>
              <a:t>• Fluttering Coherence (I* = 0.20): σ_X = 0.010 m (0.42 L). Trajectories form a tight, coherent bundle collapsing to the limit cycle.</a:t>
            </a:r>
          </a:p>
          <a:p>
            <a:pPr>
              <a:spcAft>
                <a:spcPts val="300"/>
              </a:spcAft>
              <a:defRPr sz="1150">
                <a:solidFill>
                  <a:srgbClr val="14181F"/>
                </a:solidFill>
                <a:latin typeface="Cambria Math"/>
              </a:defRPr>
            </a:pPr>
            <a:r>
              <a:t>• Chaotic Amplification (I* = 3.50): σ_X = 0.320 m (13.3 L), a 32-fold increase in landing uncertainty from the exact same input perturbation!</a:t>
            </a:r>
          </a:p>
          <a:p>
            <a:pPr>
              <a:spcAft>
                <a:spcPts val="300"/>
              </a:spcAft>
              <a:defRPr sz="1150">
                <a:solidFill>
                  <a:srgbClr val="14181F"/>
                </a:solidFill>
                <a:latin typeface="Calibri"/>
              </a:defRPr>
            </a:pPr>
            <a:r>
              <a:t>• Separatrix Crossings: High inertia allows states to graze the edge-on saddle, where tiny perturbations dictate whether the coin flips or falls back.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73952"/>
            <a:ext cx="11274552" cy="29260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defRPr sz="1000">
                <a:solidFill>
                  <a:srgbClr val="555F6E"/>
                </a:solidFill>
                <a:latin typeface="Calibri"/>
              </a:defRPr>
            </a:pPr>
            <a:r>
              <a:t>IYPT 2026 Problem 12: Autumn Coin  |  2D ODE &amp; WCSPH-FSI Numerical Investigation  |  Slide 15 / 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8686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500" b="1">
                <a:solidFill>
                  <a:srgbClr val="144182"/>
                </a:solidFill>
                <a:latin typeface="Calibri"/>
              </a:defRPr>
            </a:pPr>
            <a:r>
              <a:t>14. Phase Diagram (I* vs. Re) &amp; Summarized 60-Run Dataset Table</a:t>
            </a:r>
          </a:p>
          <a:p>
            <a:pPr>
              <a:defRPr sz="1350">
                <a:solidFill>
                  <a:srgbClr val="555F6E"/>
                </a:solidFill>
                <a:latin typeface="Calibri"/>
              </a:defRPr>
            </a:pPr>
            <a:r>
              <a:t>Physical Grid: Chords L in {12, 18, 24, 30} mm, I* in [0.05, 3.50], Fall Depth H_fall = 60 L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34440"/>
          <a:ext cx="571500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640080"/>
                <a:gridCol w="594360"/>
                <a:gridCol w="1005840"/>
                <a:gridCol w="640080"/>
                <a:gridCol w="914400"/>
                <a:gridCol w="914400"/>
              </a:tblGrid>
              <a:tr h="50292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Regime</a:t>
                      </a:r>
                    </a:p>
                  </a:txBody>
                  <a:tcPr anchor="ctr" marT="36576" marB="36576" marL="45720" marR="45720">
                    <a:solidFill>
                      <a:srgbClr val="194B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Count</a:t>
                      </a:r>
                    </a:p>
                  </a:txBody>
                  <a:tcPr anchor="ctr" marT="36576" marB="36576" marL="45720" marR="45720">
                    <a:solidFill>
                      <a:srgbClr val="194B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Share</a:t>
                      </a:r>
                    </a:p>
                  </a:txBody>
                  <a:tcPr anchor="ctr" marT="36576" marB="36576" marL="45720" marR="45720">
                    <a:solidFill>
                      <a:srgbClr val="194B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I* Range</a:t>
                      </a:r>
                    </a:p>
                  </a:txBody>
                  <a:tcPr anchor="ctr" marT="36576" marB="36576" marL="45720" marR="45720">
                    <a:solidFill>
                      <a:srgbClr val="194B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I* Mean</a:t>
                      </a:r>
                    </a:p>
                  </a:txBody>
                  <a:tcPr anchor="ctr" marT="36576" marB="36576" marL="45720" marR="45720">
                    <a:solidFill>
                      <a:srgbClr val="194B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Re_meas Range</a:t>
                      </a:r>
                    </a:p>
                  </a:txBody>
                  <a:tcPr anchor="ctr" marT="36576" marB="36576" marL="45720" marR="45720">
                    <a:solidFill>
                      <a:srgbClr val="194B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Re_meas (Mean ± SD)</a:t>
                      </a:r>
                    </a:p>
                  </a:txBody>
                  <a:tcPr anchor="ctr" marT="36576" marB="36576" marL="45720" marR="45720">
                    <a:solidFill>
                      <a:srgbClr val="194B8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Steady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8 / 60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13.3%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[0.050, 0.068]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0.059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[332, 1529]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865 ± 431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Fluttering</a:t>
                      </a:r>
                    </a:p>
                  </a:txBody>
                  <a:tcPr anchor="ctr" marT="36576" marB="36576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32 / 60</a:t>
                      </a:r>
                    </a:p>
                  </a:txBody>
                  <a:tcPr anchor="ctr" marT="36576" marB="36576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53.3%</a:t>
                      </a:r>
                    </a:p>
                  </a:txBody>
                  <a:tcPr anchor="ctr" marT="36576" marB="36576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[0.092, 0.768]</a:t>
                      </a:r>
                    </a:p>
                  </a:txBody>
                  <a:tcPr anchor="ctr" marT="36576" marB="36576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0.334</a:t>
                      </a:r>
                    </a:p>
                  </a:txBody>
                  <a:tcPr anchor="ctr" marT="36576" marB="36576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[529, 13910]</a:t>
                      </a:r>
                    </a:p>
                  </a:txBody>
                  <a:tcPr anchor="ctr" marT="36576" marB="36576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3949 ± 3124</a:t>
                      </a:r>
                    </a:p>
                  </a:txBody>
                  <a:tcPr anchor="ctr" marT="36576" marB="36576" marL="45720" marR="4572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Tumbling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4 / 60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6.7%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[1.040, 1.040]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1.040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[4125, 16338]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9937 ± 5270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Mixed / Chaotic</a:t>
                      </a:r>
                    </a:p>
                  </a:txBody>
                  <a:tcPr anchor="ctr" marT="36576" marB="36576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16 / 60</a:t>
                      </a:r>
                    </a:p>
                  </a:txBody>
                  <a:tcPr anchor="ctr" marT="36576" marB="36576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26.7%</a:t>
                      </a:r>
                    </a:p>
                  </a:txBody>
                  <a:tcPr anchor="ctr" marT="36576" marB="36576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[1.408, 3.500]</a:t>
                      </a:r>
                    </a:p>
                  </a:txBody>
                  <a:tcPr anchor="ctr" marT="36576" marB="36576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2.350</a:t>
                      </a:r>
                    </a:p>
                  </a:txBody>
                  <a:tcPr anchor="ctr" marT="36576" marB="36576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[2453, 20206]</a:t>
                      </a:r>
                    </a:p>
                  </a:txBody>
                  <a:tcPr anchor="ctr" marT="36576" marB="36576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9168 ± 5081</a:t>
                      </a:r>
                    </a:p>
                  </a:txBody>
                  <a:tcPr anchor="ctr" marT="36576" marB="36576" marL="45720" marR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457200" y="3886200"/>
            <a:ext cx="5715000" cy="2331720"/>
          </a:xfrm>
          <a:prstGeom prst="roundRect">
            <a:avLst/>
          </a:prstGeom>
          <a:solidFill>
            <a:srgbClr val="F4F7FB"/>
          </a:solidFill>
          <a:ln w="15875">
            <a:solidFill>
              <a:srgbClr val="C3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>
              <a:spcAft>
                <a:spcPts val="400"/>
              </a:spcAft>
              <a:defRPr sz="1250" b="1">
                <a:solidFill>
                  <a:srgbClr val="144182"/>
                </a:solidFill>
                <a:latin typeface="Calibri"/>
              </a:defRPr>
            </a:pPr>
            <a:r>
              <a:t>Key Dataset Findings &amp; Why Stage 2 (SPH) is Required (Fig. 7)</a:t>
            </a:r>
          </a:p>
          <a:p>
            <a:pPr>
              <a:spcAft>
                <a:spcPts val="300"/>
              </a:spcAft>
              <a:defRPr sz="1150">
                <a:solidFill>
                  <a:srgbClr val="14181F"/>
                </a:solidFill>
                <a:latin typeface="Cambria Math"/>
              </a:defRPr>
            </a:pPr>
            <a:r>
              <a:t>• Monotonic I* Ordering: Steady (I* &lt;= 0.068) → Fluttering (0.092–0.768) → Clean Tumbling (I* = 1.04) → Mixed/Chaotic (I* &gt;= 1.41).</a:t>
            </a:r>
          </a:p>
          <a:p>
            <a:pPr>
              <a:spcAft>
                <a:spcPts val="300"/>
              </a:spcAft>
              <a:defRPr sz="1150">
                <a:solidFill>
                  <a:srgbClr val="14181F"/>
                </a:solidFill>
                <a:latin typeface="Calibri"/>
              </a:defRPr>
            </a:pPr>
            <a:r>
              <a:t>• Quasi-Steady Viscosity Caveat: Because C_T, C_R, C_D0, C_D1, C_τ are fixed constants, μ does not enter the ODEs; Re_meas is computed a posteriori.</a:t>
            </a:r>
          </a:p>
          <a:p>
            <a:pPr>
              <a:spcAft>
                <a:spcPts val="300"/>
              </a:spcAft>
              <a:defRPr sz="1150">
                <a:solidFill>
                  <a:srgbClr val="14181F"/>
                </a:solidFill>
                <a:latin typeface="Calibri"/>
              </a:defRPr>
            </a:pPr>
            <a:r>
              <a:t>• Fitted Re Range: Literature coefficients are calibrated for Re ~ 300–5,000; points at Re &gt; 5,000 represent high-speed extrapolations.</a:t>
            </a:r>
          </a:p>
          <a:p>
            <a:pPr>
              <a:spcAft>
                <a:spcPts val="300"/>
              </a:spcAft>
              <a:defRPr sz="1150">
                <a:solidFill>
                  <a:srgbClr val="14181F"/>
                </a:solidFill>
                <a:latin typeface="Cambria Math"/>
              </a:defRPr>
            </a:pPr>
            <a:r>
              <a:t>• SPH Motivation: Explicit viscosity sweeps require Stage 2 Navier–Stokes / SPH modeling.</a:t>
            </a:r>
          </a:p>
        </p:txBody>
      </p:sp>
      <p:pic>
        <p:nvPicPr>
          <p:cNvPr id="6" name="Picture 5" descr="regime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234440"/>
            <a:ext cx="5394960" cy="393217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309360" y="5212333"/>
            <a:ext cx="539496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i="1">
                <a:solidFill>
                  <a:srgbClr val="555F6E"/>
                </a:solidFill>
                <a:latin typeface="Calibri"/>
              </a:defRPr>
            </a:pPr>
            <a:r>
              <a:t>Fig. 7: 2D Phase Diagram of Falling Regimes in (Re_meas, I*) space across 60 simulation runs.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73952"/>
            <a:ext cx="11274552" cy="29260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defRPr sz="1000">
                <a:solidFill>
                  <a:srgbClr val="555F6E"/>
                </a:solidFill>
                <a:latin typeface="Calibri"/>
              </a:defRPr>
            </a:pPr>
            <a:r>
              <a:t>IYPT 2026 Problem 12: Autumn Coin  |  2D ODE &amp; WCSPH-FSI Numerical Investigation  |  Slide 16 / 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8686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500" b="1">
                <a:solidFill>
                  <a:srgbClr val="144182"/>
                </a:solidFill>
                <a:latin typeface="Calibri"/>
              </a:defRPr>
            </a:pPr>
            <a:r>
              <a:t>15. Stage 2 Mathematical Model: 2D WCSPH + Akinci Rigid-Fluid FSI</a:t>
            </a:r>
          </a:p>
          <a:p>
            <a:pPr>
              <a:defRPr sz="1350">
                <a:solidFill>
                  <a:srgbClr val="555F6E"/>
                </a:solidFill>
                <a:latin typeface="Calibri"/>
              </a:defRPr>
            </a:pPr>
            <a:r>
              <a:t>Resolving Explicit Laminar Viscosity, Wake Vorticity, and Two-Way Fluid-Structure Coupling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34440"/>
            <a:ext cx="11274552" cy="1234440"/>
          </a:xfrm>
          <a:prstGeom prst="roundRect">
            <a:avLst/>
          </a:prstGeom>
          <a:solidFill>
            <a:srgbClr val="F4F7FB"/>
          </a:solidFill>
          <a:ln w="15875">
            <a:solidFill>
              <a:srgbClr val="C3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>
              <a:spcAft>
                <a:spcPts val="400"/>
              </a:spcAft>
              <a:defRPr sz="1300" b="1">
                <a:solidFill>
                  <a:srgbClr val="144182"/>
                </a:solidFill>
                <a:latin typeface="Calibri"/>
              </a:defRPr>
            </a:pPr>
            <a:r>
              <a:t>1. 2D Wendland C² Kernel &amp; Exact Gradient (h_sml = 1.3 Δx, q = r / h_sml in [0, 2])</a:t>
            </a:r>
          </a:p>
          <a:p>
            <a:pPr>
              <a:spcAft>
                <a:spcPts val="300"/>
              </a:spcAft>
              <a:defRPr sz="1200">
                <a:solidFill>
                  <a:srgbClr val="14181F"/>
                </a:solidFill>
                <a:latin typeface="Cambria Math"/>
              </a:defRPr>
            </a:pPr>
            <a:r>
              <a:t>W(q, h) = (7 / (4 π h^2)) * (1 − q/2)^4 * (2q + 1)</a:t>
            </a:r>
          </a:p>
          <a:p>
            <a:pPr>
              <a:spcAft>
                <a:spcPts val="300"/>
              </a:spcAft>
              <a:defRPr sz="1200">
                <a:solidFill>
                  <a:srgbClr val="14181F"/>
                </a:solidFill>
                <a:latin typeface="Cambria Math"/>
              </a:defRPr>
            </a:pPr>
            <a:r>
              <a:t>∇_i W(r_ij, h) = −(35 q / (4 π h^3)) * (1 − q/2)^3 * r_hat_ij      [Verified exact prefactor −35q/(4πh³)]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578608"/>
            <a:ext cx="11274552" cy="1965960"/>
          </a:xfrm>
          <a:prstGeom prst="roundRect">
            <a:avLst/>
          </a:prstGeom>
          <a:solidFill>
            <a:srgbClr val="F4F7FB"/>
          </a:solidFill>
          <a:ln w="15875">
            <a:solidFill>
              <a:srgbClr val="C3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>
              <a:spcAft>
                <a:spcPts val="400"/>
              </a:spcAft>
              <a:defRPr sz="1250" b="1">
                <a:solidFill>
                  <a:srgbClr val="144182"/>
                </a:solidFill>
                <a:latin typeface="Calibri"/>
              </a:defRPr>
            </a:pPr>
            <a:r>
              <a:t>2. Weakly Compressible Tait EOS &amp; Morris Laminar Viscosity (α_art = 0 Default)</a:t>
            </a:r>
          </a:p>
          <a:p>
            <a:pPr>
              <a:spcAft>
                <a:spcPts val="300"/>
              </a:spcAft>
              <a:defRPr sz="1150">
                <a:solidFill>
                  <a:srgbClr val="14181F"/>
                </a:solidFill>
                <a:latin typeface="Cambria Math"/>
              </a:defRPr>
            </a:pPr>
            <a:r>
              <a:t>• Density Summation (with Akinci boundary volumes Ψ_b = 1 / Σ_k W_bk):   ρ_i = Σ_j m_j W_ij + ρ_0 Σ_b Ψ_b W_ib</a:t>
            </a:r>
          </a:p>
          <a:p>
            <a:pPr>
              <a:spcAft>
                <a:spcPts val="300"/>
              </a:spcAft>
              <a:defRPr sz="1150">
                <a:solidFill>
                  <a:srgbClr val="14181F"/>
                </a:solidFill>
                <a:latin typeface="Cambria Math"/>
              </a:defRPr>
            </a:pPr>
            <a:r>
              <a:t>• Tait EOS (γ = 7, c_0 &gt;= 10 U_max):   p_i = (ρ_0 c_0^2 / 7) * [ (ρ_i / ρ_0)^7 − 1 ] + p_bg</a:t>
            </a:r>
          </a:p>
          <a:p>
            <a:pPr>
              <a:spcAft>
                <a:spcPts val="300"/>
              </a:spcAft>
              <a:defRPr sz="1150">
                <a:solidFill>
                  <a:srgbClr val="14181F"/>
                </a:solidFill>
                <a:latin typeface="Cambria Math"/>
              </a:defRPr>
            </a:pPr>
            <a:r>
              <a:t>• Momentum &amp; Morris (1997) Physical Laminar Viscosity (ν = μ / ρ_f):</a:t>
            </a:r>
          </a:p>
          <a:p>
            <a:pPr>
              <a:spcAft>
                <a:spcPts val="300"/>
              </a:spcAft>
              <a:defRPr sz="1150">
                <a:solidFill>
                  <a:srgbClr val="14181F"/>
                </a:solidFill>
                <a:latin typeface="Cambria Math"/>
              </a:defRPr>
            </a:pPr>
            <a:r>
              <a:t>      dv_i/dt = −Σ_j m_j (p_i/ρ_i^2 + p_j/ρ_j^2) ∇_i W_ij + 2 ν Σ_j (m_j/ρ_j) [(v_i − v_j) / (r_ij^2 + 0.01 h^2)] (r_ij · ∇_i W_ij) + g + F_{i←b}/m_i</a:t>
            </a:r>
          </a:p>
          <a:p>
            <a:pPr>
              <a:spcAft>
                <a:spcPts val="300"/>
              </a:spcAft>
              <a:defRPr sz="1150">
                <a:solidFill>
                  <a:srgbClr val="14181F"/>
                </a:solidFill>
                <a:latin typeface="Cambria Math"/>
              </a:defRPr>
            </a:pPr>
            <a:r>
              <a:t>• Crucial Design Rule: Set artificial viscosity α_art = 0 by default so numerical viscosity ν_art ≈ α c_0 h / 8 does not swamp physical ν!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4663440"/>
            <a:ext cx="11274552" cy="1645920"/>
          </a:xfrm>
          <a:prstGeom prst="roundRect">
            <a:avLst/>
          </a:prstGeom>
          <a:solidFill>
            <a:srgbClr val="F4F7FB"/>
          </a:solidFill>
          <a:ln w="15875">
            <a:solidFill>
              <a:srgbClr val="C3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>
              <a:spcAft>
                <a:spcPts val="400"/>
              </a:spcAft>
              <a:defRPr sz="1250" b="1">
                <a:solidFill>
                  <a:srgbClr val="144182"/>
                </a:solidFill>
                <a:latin typeface="Calibri"/>
              </a:defRPr>
            </a:pPr>
            <a:r>
              <a:t>3. Two-Way Elliptical Boundary Coupling (Akinci et al. 2012; Adami et al. 2012) &amp; Synchronous KDK</a:t>
            </a:r>
          </a:p>
          <a:p>
            <a:pPr>
              <a:spcAft>
                <a:spcPts val="300"/>
              </a:spcAft>
              <a:defRPr sz="1150">
                <a:solidFill>
                  <a:srgbClr val="14181F"/>
                </a:solidFill>
                <a:latin typeface="Calibri"/>
              </a:defRPr>
            </a:pPr>
            <a:r>
              <a:t>• Fluid-Boundary Force (using dissipative sign v_i − v_b):</a:t>
            </a:r>
          </a:p>
          <a:p>
            <a:pPr>
              <a:spcAft>
                <a:spcPts val="300"/>
              </a:spcAft>
              <a:defRPr sz="1150">
                <a:solidFill>
                  <a:srgbClr val="14181F"/>
                </a:solidFill>
                <a:latin typeface="Cambria Math"/>
              </a:defRPr>
            </a:pPr>
            <a:r>
              <a:t>      f_{i←b} = −m_i ρ_0 Ψ_b (p_i/ρ_i^2 + p_b/ρ_0^2) ∇_i W_ib + 2 ν m_i Ψ_b [(v_i − v_b) / (r_ib^2 + 0.01 h^2)] (r_ib · ∇_i W_ib)</a:t>
            </a:r>
          </a:p>
          <a:p>
            <a:pPr>
              <a:spcAft>
                <a:spcPts val="300"/>
              </a:spcAft>
              <a:defRPr sz="1150">
                <a:solidFill>
                  <a:srgbClr val="14181F"/>
                </a:solidFill>
                <a:latin typeface="Cambria Math"/>
              </a:defRPr>
            </a:pPr>
            <a:r>
              <a:t>• Total Force &amp; Torque on Elliptical Plate (a=L/2, b=h/2):  F_fluid = Σ_b Σ_i (−f_{i←b}),   τ_fluid = Σ_b (r_b − R) × Σ_i (−f_{i←b}).</a:t>
            </a:r>
          </a:p>
          <a:p>
            <a:pPr>
              <a:spcAft>
                <a:spcPts val="300"/>
              </a:spcAft>
              <a:defRPr sz="1150">
                <a:solidFill>
                  <a:srgbClr val="14181F"/>
                </a:solidFill>
                <a:latin typeface="Calibri"/>
              </a:defRPr>
            </a:pPr>
            <a:r>
              <a:t>• Added Mass &amp; Buoyancy Emerge Naturally: Integrated synchronously with fluid in a single Kick–Drift–Kick (KDK) Verlet step.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73952"/>
            <a:ext cx="11274552" cy="29260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defRPr sz="1000">
                <a:solidFill>
                  <a:srgbClr val="555F6E"/>
                </a:solidFill>
                <a:latin typeface="Calibri"/>
              </a:defRPr>
            </a:pPr>
            <a:r>
              <a:t>IYPT 2026 Problem 12: Autumn Coin  |  2D ODE &amp; WCSPH-FSI Numerical Investigation  |  Slide 17 / 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8686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500" b="1">
                <a:solidFill>
                  <a:srgbClr val="144182"/>
                </a:solidFill>
                <a:latin typeface="Calibri"/>
              </a:defRPr>
            </a:pPr>
            <a:r>
              <a:t>16. Stage 2 SPH-FSI Verification &amp; Validation Ladder</a:t>
            </a:r>
          </a:p>
          <a:p>
            <a:pPr>
              <a:defRPr sz="1350">
                <a:solidFill>
                  <a:srgbClr val="555F6E"/>
                </a:solidFill>
                <a:latin typeface="Calibri"/>
              </a:defRPr>
            </a:pPr>
            <a:r>
              <a:t>Automated Seven-Level Benchmark Suite Verifying Kernel Calculus, Hydrostatics, Physical Viscosity, and Drag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34440"/>
          <a:ext cx="6126480" cy="5074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194560"/>
                <a:gridCol w="2103120"/>
                <a:gridCol w="822960"/>
              </a:tblGrid>
              <a:tr h="634365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Test #</a:t>
                      </a:r>
                    </a:p>
                  </a:txBody>
                  <a:tcPr anchor="ctr" marT="36576" marB="36576" marL="45720" marR="45720">
                    <a:solidFill>
                      <a:srgbClr val="194B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Physical / Mathematical Test</a:t>
                      </a:r>
                    </a:p>
                  </a:txBody>
                  <a:tcPr anchor="ctr" marT="36576" marB="36576" marL="45720" marR="45720">
                    <a:solidFill>
                      <a:srgbClr val="194B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Benchmark vs. Measured</a:t>
                      </a:r>
                    </a:p>
                  </a:txBody>
                  <a:tcPr anchor="ctr" marT="36576" marB="36576" marL="45720" marR="45720">
                    <a:solidFill>
                      <a:srgbClr val="194B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 anchor="ctr" marT="36576" marB="36576" marL="45720" marR="45720">
                    <a:solidFill>
                      <a:srgbClr val="194B8C"/>
                    </a:solidFill>
                  </a:tcPr>
                </a:tc>
              </a:tr>
              <a:tr h="634365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Test 1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Wendland C² Kernel &amp; Linear Gradient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P-of-U err: 0.0081 (&lt; 0.01)</a:t>
                      </a:r>
                      <a:br/>
                      <a:r>
                        <a:t>||L - I||_inf: 0.0172 (&lt; 0.02)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PASS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</a:tr>
              <a:tr h="634365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Test 2</a:t>
                      </a:r>
                    </a:p>
                  </a:txBody>
                  <a:tcPr anchor="ctr" marT="36576" marB="36576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Hydrostatic Tank &amp; Archimedes Buoyancy</a:t>
                      </a:r>
                    </a:p>
                  </a:txBody>
                  <a:tcPr anchor="ctr" marT="36576" marB="36576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Hydro RMS: 0.00% (&lt; 5%)</a:t>
                      </a:r>
                      <a:br/>
                      <a:r>
                        <a:t>Buoyancy Err: 0.001% (&lt; 5%)</a:t>
                      </a:r>
                    </a:p>
                  </a:txBody>
                  <a:tcPr anchor="ctr" marT="36576" marB="36576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PASS</a:t>
                      </a:r>
                    </a:p>
                  </a:txBody>
                  <a:tcPr anchor="ctr" marT="36576" marB="36576" marL="45720" marR="45720">
                    <a:solidFill>
                      <a:srgbClr val="FFFFFF"/>
                    </a:solidFill>
                  </a:tcPr>
                </a:tc>
              </a:tr>
              <a:tr h="634365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Test 3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Viscous Operators (Couette &amp; Taylor-Green)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Couette L2: 0.23% (&lt; 5%)</a:t>
                      </a:r>
                      <a:br/>
                      <a:r>
                        <a:t>TG ν ratio: 0.907 in [0.9, 1.1]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PASS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</a:tr>
              <a:tr h="634365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Test 4</a:t>
                      </a:r>
                    </a:p>
                  </a:txBody>
                  <a:tcPr anchor="ctr" marT="36576" marB="36576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2D Dam-Break Surge Front Evolution</a:t>
                      </a:r>
                    </a:p>
                  </a:txBody>
                  <a:tcPr anchor="ctr" marT="36576" marB="36576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X_front/W_0 = 3.00 at τ ≈ 2.0</a:t>
                      </a:r>
                      <a:br/>
                      <a:r>
                        <a:t>Matches Martin &amp; Moyce (1952)</a:t>
                      </a:r>
                    </a:p>
                  </a:txBody>
                  <a:tcPr anchor="ctr" marT="36576" marB="36576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PASS</a:t>
                      </a:r>
                    </a:p>
                  </a:txBody>
                  <a:tcPr anchor="ctr" marT="36576" marB="36576" marL="45720" marR="45720">
                    <a:solidFill>
                      <a:srgbClr val="FFFFFF"/>
                    </a:solidFill>
                  </a:tcPr>
                </a:tc>
              </a:tr>
              <a:tr h="634365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Test 5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Circular Cylinder Drag (Re = 20 &amp; 40)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C_D(20) = 2.08 in [1.85, 2.35]</a:t>
                      </a:r>
                      <a:br/>
                      <a:r>
                        <a:t>C_D(40) = 1.58 in [1.40, 1.85]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PASS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</a:tr>
              <a:tr h="634365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Test 6</a:t>
                      </a:r>
                    </a:p>
                  </a:txBody>
                  <a:tcPr anchor="ctr" marT="36576" marB="36576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Low-I* Added-Mass Coupling Stability</a:t>
                      </a:r>
                    </a:p>
                  </a:txBody>
                  <a:tcPr anchor="ctr" marT="36576" marB="36576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2000 steps bounded at I* = 0.05</a:t>
                      </a:r>
                      <a:br/>
                      <a:r>
                        <a:t>No numerical blowup (v_y, ω bound)</a:t>
                      </a:r>
                    </a:p>
                  </a:txBody>
                  <a:tcPr anchor="ctr" marT="36576" marB="36576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PASS</a:t>
                      </a:r>
                    </a:p>
                  </a:txBody>
                  <a:tcPr anchor="ctr" marT="36576" marB="36576" marL="45720" marR="45720">
                    <a:solidFill>
                      <a:srgbClr val="FFFFFF"/>
                    </a:solidFill>
                  </a:tcPr>
                </a:tc>
              </a:tr>
              <a:tr h="634365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Test 7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Spatial Resolution Study (N_h in [0.9, 1.5])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U_mean = 0.123 m/s converged</a:t>
                      </a:r>
                      <a:br/>
                      <a:r>
                        <a:t>h_sml/Δx = 1.3 across all 3 grids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PASS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pic>
        <p:nvPicPr>
          <p:cNvPr id="5" name="Picture 4" descr="validation_ladder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1234440"/>
            <a:ext cx="4309872" cy="4617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720840" y="5925312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i="1">
                <a:solidFill>
                  <a:srgbClr val="555F6E"/>
                </a:solidFill>
              </a:defRPr>
            </a:pPr>
            <a:r>
              <a:t>Fig. 7: 7-panel automated validation ladder demonstrating exact convergence across all benchmarks.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73952"/>
            <a:ext cx="11274552" cy="29260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defRPr sz="1000">
                <a:solidFill>
                  <a:srgbClr val="555F6E"/>
                </a:solidFill>
                <a:latin typeface="Calibri"/>
              </a:defRPr>
            </a:pPr>
            <a:r>
              <a:t>IYPT 2026 Problem 12: Autumn Coin  |  2D ODE &amp; WCSPH-FSI Numerical Investigation  |  Slide 18 / 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8686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500" b="1">
                <a:solidFill>
                  <a:srgbClr val="144182"/>
                </a:solidFill>
                <a:latin typeface="Calibri"/>
              </a:defRPr>
            </a:pPr>
            <a:r>
              <a:t>17. Stage 2 SPH-FSI vs. Stage 1 ODE &amp; Explicit Viscosity Sweep</a:t>
            </a:r>
          </a:p>
          <a:p>
            <a:pPr>
              <a:defRPr sz="1350">
                <a:solidFill>
                  <a:srgbClr val="555F6E"/>
                </a:solidFill>
                <a:latin typeface="Calibri"/>
              </a:defRPr>
            </a:pPr>
            <a:r>
              <a:t>Probing True Reynolds Number Dependence at Fixed Dimensionless Inertia (I* = 0.65, W_tank &gt;= 12 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5486400" cy="5029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700"/>
              </a:spcAft>
              <a:defRPr sz="1150">
                <a:solidFill>
                  <a:srgbClr val="14181F"/>
                </a:solidFill>
                <a:latin typeface="Calibri"/>
              </a:defRPr>
            </a:pPr>
            <a:r>
              <a:t>•  Why Tank Width W &gt;= 12 L and Stopping 2 L Above Bottom Are Mandatory:</a:t>
            </a:r>
          </a:p>
          <a:p>
            <a:pPr>
              <a:spcAft>
                <a:spcPts val="500"/>
              </a:spcAft>
              <a:defRPr sz="1050">
                <a:solidFill>
                  <a:srgbClr val="14181F"/>
                </a:solidFill>
                <a:latin typeface="Calibri"/>
              </a:defRPr>
            </a:pPr>
            <a:r>
              <a:t>    –  Broadside Blockage Control: Tank width W = 12 L keeps maximum blockage below 8.3%, avoiding boundary speedup.</a:t>
            </a:r>
          </a:p>
          <a:p>
            <a:pPr>
              <a:spcAft>
                <a:spcPts val="500"/>
              </a:spcAft>
              <a:defRPr sz="1050">
                <a:solidFill>
                  <a:srgbClr val="14181F"/>
                </a:solidFill>
                <a:latin typeface="Calibri"/>
              </a:defRPr>
            </a:pPr>
            <a:r>
              <a:t>    –  Multi-Meter Glide Buffer: Tumbling coins glide ~140 L laterally; stopping 2 L from walls prevents boundary impacts.</a:t>
            </a:r>
          </a:p>
          <a:p>
            <a:pPr>
              <a:spcAft>
                <a:spcPts val="700"/>
              </a:spcAft>
              <a:defRPr sz="1150">
                <a:solidFill>
                  <a:srgbClr val="14181F"/>
                </a:solidFill>
                <a:latin typeface="Calibri"/>
              </a:defRPr>
            </a:pPr>
            <a:r>
              <a:t>•  Matched Case Comparison (Fig. 8a):</a:t>
            </a:r>
          </a:p>
          <a:p>
            <a:pPr>
              <a:spcAft>
                <a:spcPts val="500"/>
              </a:spcAft>
              <a:defRPr sz="1050">
                <a:solidFill>
                  <a:srgbClr val="14181F"/>
                </a:solidFill>
                <a:latin typeface="Calibri"/>
              </a:defRPr>
            </a:pPr>
            <a:r>
              <a:t>    –  Compares Steady (I*=0.06), Fluttering (I*=0.68), Tumbling (I*=1.20), and Mixed (I*=2.35) against Stage 1 ODEs.</a:t>
            </a:r>
          </a:p>
          <a:p>
            <a:pPr>
              <a:spcAft>
                <a:spcPts val="500"/>
              </a:spcAft>
              <a:defRPr sz="1050">
                <a:solidFill>
                  <a:srgbClr val="14181F"/>
                </a:solidFill>
                <a:latin typeface="Calibri"/>
              </a:defRPr>
            </a:pPr>
            <a:r>
              <a:t>    –  SPH flutter frequency is ~15-25% lower than ODE due to wake-vortex memory lingering behind the plate.</a:t>
            </a:r>
          </a:p>
          <a:p>
            <a:pPr>
              <a:spcAft>
                <a:spcPts val="700"/>
              </a:spcAft>
              <a:defRPr sz="1150">
                <a:solidFill>
                  <a:srgbClr val="14181F"/>
                </a:solidFill>
                <a:latin typeface="Calibri"/>
              </a:defRPr>
            </a:pPr>
            <a:r>
              <a:t>•  Explicit Viscosity Sweep at Fixed I* = 0.65 (Fig. 8b, Re_in in {25, 100, 300, 800}):</a:t>
            </a:r>
          </a:p>
          <a:p>
            <a:pPr>
              <a:spcAft>
                <a:spcPts val="500"/>
              </a:spcAft>
              <a:defRPr sz="1050">
                <a:solidFill>
                  <a:srgbClr val="14181F"/>
                </a:solidFill>
                <a:latin typeface="Calibri"/>
              </a:defRPr>
            </a:pPr>
            <a:r>
              <a:t>    –  Directly varies fluid viscosity μ in Navier-Stokes momentum equation (impossible in fixed-coefficient ODE).</a:t>
            </a:r>
          </a:p>
          <a:p>
            <a:pPr>
              <a:spcAft>
                <a:spcPts val="500"/>
              </a:spcAft>
              <a:defRPr sz="1050">
                <a:solidFill>
                  <a:srgbClr val="14181F"/>
                </a:solidFill>
                <a:latin typeface="Calibri"/>
              </a:defRPr>
            </a:pPr>
            <a:r>
              <a:t>    –  Demonstrates viscous shear suppresses flutter at Re &lt;= 100, transitioning to limit-cycle flutter at Re &gt;= 300.</a:t>
            </a:r>
          </a:p>
        </p:txBody>
      </p:sp>
      <p:pic>
        <p:nvPicPr>
          <p:cNvPr id="5" name="Picture 4" descr="sph_vs_ode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234440"/>
            <a:ext cx="5257800" cy="3855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172200" y="5138928"/>
            <a:ext cx="5257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i="1">
                <a:solidFill>
                  <a:srgbClr val="555F6E"/>
                </a:solidFill>
              </a:defRPr>
            </a:pPr>
            <a:r>
              <a:t>Fig. 8: (a) Matched SPH vs ODE dynamics across regimes; (b) Explicit SPH viscosity sweep at I*=0.65.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5468112"/>
            <a:ext cx="5257800" cy="950976"/>
          </a:xfrm>
          <a:prstGeom prst="roundRect">
            <a:avLst/>
          </a:prstGeom>
          <a:solidFill>
            <a:srgbClr val="F4F7FB"/>
          </a:solidFill>
          <a:ln w="15875">
            <a:solidFill>
              <a:srgbClr val="C3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>
              <a:spcAft>
                <a:spcPts val="400"/>
              </a:spcAft>
              <a:defRPr sz="1100" b="1">
                <a:solidFill>
                  <a:srgbClr val="144182"/>
                </a:solidFill>
                <a:latin typeface="Calibri"/>
              </a:defRPr>
            </a:pPr>
            <a:r>
              <a:t>Explicit Navier-Stokes Viscous Dissipation &amp; Scaling</a:t>
            </a:r>
          </a:p>
          <a:p>
            <a:pPr>
              <a:spcAft>
                <a:spcPts val="300"/>
              </a:spcAft>
              <a:defRPr sz="1000">
                <a:solidFill>
                  <a:srgbClr val="14181F"/>
                </a:solidFill>
                <a:latin typeface="Cambria Math"/>
              </a:defRPr>
            </a:pPr>
            <a:r>
              <a:t>• Physical Viscosity: a_visc = 2ν Σ (m_j/ρ_j) [(v_i − v_j)/(r_ij² + 0.01h²)] (r_ij · ∇W_ij)</a:t>
            </a:r>
          </a:p>
          <a:p>
            <a:pPr>
              <a:spcAft>
                <a:spcPts val="300"/>
              </a:spcAft>
              <a:defRPr sz="1000">
                <a:solidFill>
                  <a:srgbClr val="14181F"/>
                </a:solidFill>
                <a:latin typeface="Cambria Math"/>
              </a:defRPr>
            </a:pPr>
            <a:r>
              <a:t>• Low-Re Suppression: Viscous damping suppresses the Munk destabilizing moment at Re &lt;= 50.</a:t>
            </a:r>
          </a:p>
          <a:p>
            <a:pPr>
              <a:spcAft>
                <a:spcPts val="300"/>
              </a:spcAft>
              <a:defRPr sz="1000">
                <a:solidFill>
                  <a:srgbClr val="14181F"/>
                </a:solidFill>
                <a:latin typeface="Cambria Math"/>
              </a:defRPr>
            </a:pPr>
            <a:r>
              <a:t>• High-Re Flutter: Limit-cycle flutter emerges at Re &gt;= 300 as vortex shedding drives oscillating lift.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73952"/>
            <a:ext cx="11274552" cy="29260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defRPr sz="1000">
                <a:solidFill>
                  <a:srgbClr val="555F6E"/>
                </a:solidFill>
                <a:latin typeface="Calibri"/>
              </a:defRPr>
            </a:pPr>
            <a:r>
              <a:t>IYPT 2026 Problem 12: Autumn Coin  |  2D ODE &amp; WCSPH-FSI Numerical Investigation  |  Slide 19 / 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8686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500" b="1">
                <a:solidFill>
                  <a:srgbClr val="144182"/>
                </a:solidFill>
                <a:latin typeface="Calibri"/>
              </a:defRPr>
            </a:pPr>
            <a:r>
              <a:t>18. Sebastian Lague-Style Dual-Mode Visual Renderer Architecture</a:t>
            </a:r>
          </a:p>
          <a:p>
            <a:pPr>
              <a:defRPr sz="1350">
                <a:solidFill>
                  <a:srgbClr val="555F6E"/>
                </a:solidFill>
                <a:latin typeface="Calibri"/>
              </a:defRPr>
            </a:pPr>
            <a:r>
              <a:t>Deterministic C++20 Visualization: Mode A ODE Replay &amp; Mode B Live SPH-FSI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34440"/>
            <a:ext cx="5394960" cy="2423160"/>
          </a:xfrm>
          <a:prstGeom prst="roundRect">
            <a:avLst/>
          </a:prstGeom>
          <a:solidFill>
            <a:srgbClr val="F4F7FB"/>
          </a:solidFill>
          <a:ln w="15875">
            <a:solidFill>
              <a:srgbClr val="C3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>
              <a:spcAft>
                <a:spcPts val="400"/>
              </a:spcAft>
              <a:defRPr sz="1200" b="1">
                <a:solidFill>
                  <a:srgbClr val="144182"/>
                </a:solidFill>
                <a:latin typeface="Calibri"/>
              </a:defRPr>
            </a:pPr>
            <a:r>
              <a:t>Mode A: Step 1 ODE Trajectory Replay (Headless PNG Export)</a:t>
            </a:r>
          </a:p>
          <a:p>
            <a:pPr>
              <a:spcAft>
                <a:spcPts val="300"/>
              </a:spcAft>
              <a:defRPr sz="1100">
                <a:solidFill>
                  <a:srgbClr val="14181F"/>
                </a:solidFill>
                <a:latin typeface="Calibri"/>
              </a:defRPr>
            </a:pPr>
            <a:r>
              <a:t>• Ingests byte-identical trajectory.csv from Python DOP853 solver.</a:t>
            </a:r>
          </a:p>
          <a:p>
            <a:pPr>
              <a:spcAft>
                <a:spcPts val="300"/>
              </a:spcAft>
              <a:defRPr sz="1100">
                <a:solidFill>
                  <a:srgbClr val="14181F"/>
                </a:solidFill>
                <a:latin typeface="Calibri"/>
              </a:defRPr>
            </a:pPr>
            <a:r>
              <a:t>• Renders 2D elliptical coin cross-section, co-moving body axes (u, v), velocity vectors, and historical pathline ribbons.</a:t>
            </a:r>
          </a:p>
          <a:p>
            <a:pPr>
              <a:spcAft>
                <a:spcPts val="300"/>
              </a:spcAft>
              <a:defRPr sz="1100">
                <a:solidFill>
                  <a:srgbClr val="14181F"/>
                </a:solidFill>
                <a:latin typeface="Calibri"/>
              </a:defRPr>
            </a:pPr>
            <a:r>
              <a:t>• HUD Banner: “MODE A: 2D ODE simulation replay - visualization only”.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794760"/>
            <a:ext cx="5394960" cy="2560320"/>
          </a:xfrm>
          <a:prstGeom prst="roundRect">
            <a:avLst/>
          </a:prstGeom>
          <a:solidFill>
            <a:srgbClr val="F4F7FB"/>
          </a:solidFill>
          <a:ln w="15875">
            <a:solidFill>
              <a:srgbClr val="C3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>
              <a:spcAft>
                <a:spcPts val="400"/>
              </a:spcAft>
              <a:defRPr sz="1200" b="1">
                <a:solidFill>
                  <a:srgbClr val="144182"/>
                </a:solidFill>
                <a:latin typeface="Calibri"/>
              </a:defRPr>
            </a:pPr>
            <a:r>
              <a:t>Mode B: Live 2D WCSPH-FSI &amp; Vorticity Field (Headless PNG Export)</a:t>
            </a:r>
          </a:p>
          <a:p>
            <a:pPr>
              <a:spcAft>
                <a:spcPts val="300"/>
              </a:spcAft>
              <a:defRPr sz="1100">
                <a:solidFill>
                  <a:srgbClr val="14181F"/>
                </a:solidFill>
                <a:latin typeface="Calibri"/>
              </a:defRPr>
            </a:pPr>
            <a:r>
              <a:t>• Unified Physics &amp; Renderer: C++20 engine powers simulation and rasterization via stb_image_write.h without code divergence.</a:t>
            </a:r>
          </a:p>
          <a:p>
            <a:pPr>
              <a:spcAft>
                <a:spcPts val="300"/>
              </a:spcAft>
              <a:defRPr sz="1100">
                <a:solidFill>
                  <a:srgbClr val="14181F"/>
                </a:solidFill>
                <a:latin typeface="Cambria Math"/>
              </a:defRPr>
            </a:pPr>
            <a:r>
              <a:t>• Vorticity Field: Colors fluid particles by curl ω_z = ∂v_y/∂x − ∂v_x/∂y to visualize leading/trailing-edge vortex dipole shedding.</a:t>
            </a:r>
          </a:p>
          <a:p>
            <a:pPr>
              <a:spcAft>
                <a:spcPts val="300"/>
              </a:spcAft>
              <a:defRPr sz="1100">
                <a:solidFill>
                  <a:srgbClr val="14181F"/>
                </a:solidFill>
                <a:latin typeface="Calibri"/>
              </a:defRPr>
            </a:pPr>
            <a:r>
              <a:t>• HUD Banner: “MODE B: 2D SPH-FSI numerical simulation”.</a:t>
            </a:r>
          </a:p>
        </p:txBody>
      </p:sp>
      <p:pic>
        <p:nvPicPr>
          <p:cNvPr id="6" name="Picture 5" descr="frame_01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234440"/>
            <a:ext cx="2640330" cy="3520440"/>
          </a:xfrm>
          <a:prstGeom prst="rect">
            <a:avLst/>
          </a:prstGeom>
        </p:spPr>
      </p:pic>
      <p:pic>
        <p:nvPicPr>
          <p:cNvPr id="7" name="Picture 6" descr="frame_001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0" y="1234440"/>
            <a:ext cx="2640330" cy="35204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80760" y="4809744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i="1">
                <a:solidFill>
                  <a:srgbClr val="555F6E"/>
                </a:solidFill>
              </a:defRPr>
            </a:pPr>
            <a:r>
              <a:t>Fig. 9: (a) Mode A ODE trajectory replay &amp; trail; (b) Mode B WCSPH vorticity field showing shed dipole.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80760" y="5166360"/>
            <a:ext cx="5532120" cy="1234440"/>
          </a:xfrm>
          <a:prstGeom prst="roundRect">
            <a:avLst/>
          </a:prstGeom>
          <a:solidFill>
            <a:srgbClr val="F4F7FB"/>
          </a:solidFill>
          <a:ln w="15875">
            <a:solidFill>
              <a:srgbClr val="C3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>
              <a:spcAft>
                <a:spcPts val="400"/>
              </a:spcAft>
              <a:defRPr sz="1100" b="1">
                <a:solidFill>
                  <a:srgbClr val="144182"/>
                </a:solidFill>
                <a:latin typeface="Calibri"/>
              </a:defRPr>
            </a:pPr>
            <a:r>
              <a:t>Vorticity Dynamics &amp; Vortex Dipole Shedding</a:t>
            </a:r>
          </a:p>
          <a:p>
            <a:pPr>
              <a:spcAft>
                <a:spcPts val="300"/>
              </a:spcAft>
              <a:defRPr sz="1000">
                <a:solidFill>
                  <a:srgbClr val="14181F"/>
                </a:solidFill>
                <a:latin typeface="Cambria Math"/>
              </a:defRPr>
            </a:pPr>
            <a:r>
              <a:t>• Vorticity Definition: ω_z = (∂v_y / ∂x) − (∂v_x / ∂y)</a:t>
            </a:r>
          </a:p>
          <a:p>
            <a:pPr>
              <a:spcAft>
                <a:spcPts val="300"/>
              </a:spcAft>
              <a:defRPr sz="1000">
                <a:solidFill>
                  <a:srgbClr val="14181F"/>
                </a:solidFill>
                <a:latin typeface="Calibri"/>
              </a:defRPr>
            </a:pPr>
            <a:r>
              <a:t>• Cusp Vortex Shedding: At maximum pitch cusps (|θ| ≈ 70°), forward speed drops to zero and a counter-rotating vortex dipole is shed into the wake.</a:t>
            </a:r>
          </a:p>
          <a:p>
            <a:pPr>
              <a:spcAft>
                <a:spcPts val="300"/>
              </a:spcAft>
              <a:defRPr sz="1000">
                <a:solidFill>
                  <a:srgbClr val="14181F"/>
                </a:solidFill>
                <a:latin typeface="Calibri"/>
              </a:defRPr>
            </a:pPr>
            <a:r>
              <a:t>• Bound Circulation Lift: Shed vortex circulation generates equal and opposite bound circulation around the coin, powering the reverse glide.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73952"/>
            <a:ext cx="11274552" cy="29260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defRPr sz="1000">
                <a:solidFill>
                  <a:srgbClr val="555F6E"/>
                </a:solidFill>
                <a:latin typeface="Calibri"/>
              </a:defRPr>
            </a:pPr>
            <a:r>
              <a:t>IYPT 2026 Problem 12: Autumn Coin  |  2D ODE &amp; WCSPH-FSI Numerical Investigation  |  Slide 20 / 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8686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500" b="1">
                <a:solidFill>
                  <a:srgbClr val="144182"/>
                </a:solidFill>
                <a:latin typeface="Calibri"/>
              </a:defRPr>
            </a:pPr>
            <a:r>
              <a:t>19. Validation Against Published Literature &amp; 3D Coin Datasets</a:t>
            </a:r>
          </a:p>
          <a:p>
            <a:pPr>
              <a:defRPr sz="1350">
                <a:solidFill>
                  <a:srgbClr val="555F6E"/>
                </a:solidFill>
                <a:latin typeface="Calibri"/>
              </a:defRPr>
            </a:pPr>
            <a:r>
              <a:t>Cross-Validation of 2D ODE Simulations with Andersen et al. (2005a,b), Field et al. (1997), and ondrej-cloud (2024)</a:t>
            </a:r>
          </a:p>
        </p:txBody>
      </p:sp>
      <p:pic>
        <p:nvPicPr>
          <p:cNvPr id="4" name="Picture 3" descr="literature_valid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34440"/>
            <a:ext cx="6217920" cy="18900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3170204"/>
            <a:ext cx="621792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i="1">
                <a:solidFill>
                  <a:srgbClr val="555F6E"/>
                </a:solidFill>
                <a:latin typeface="Calibri"/>
              </a:defRPr>
            </a:pPr>
            <a:r>
              <a:t>Fig. 10: Validation benchmarks: (a) Phase diagram vs 3D disks; (b) Descent speed vs Andersen; (c) Strouhal scaling vs Belmonte.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03720" y="1234440"/>
            <a:ext cx="4828032" cy="2240280"/>
          </a:xfrm>
          <a:prstGeom prst="roundRect">
            <a:avLst/>
          </a:prstGeom>
          <a:solidFill>
            <a:srgbClr val="F4F7FB"/>
          </a:solidFill>
          <a:ln w="15875">
            <a:solidFill>
              <a:srgbClr val="C3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>
              <a:spcAft>
                <a:spcPts val="400"/>
              </a:spcAft>
              <a:defRPr sz="1200" b="1">
                <a:solidFill>
                  <a:srgbClr val="144182"/>
                </a:solidFill>
                <a:latin typeface="Calibri"/>
              </a:defRPr>
            </a:pPr>
            <a:r>
              <a:t>Key Quantitative Benchmark Agreements (Fig. 10)</a:t>
            </a:r>
          </a:p>
          <a:p>
            <a:pPr>
              <a:spcAft>
                <a:spcPts val="300"/>
              </a:spcAft>
              <a:defRPr sz="1100">
                <a:solidFill>
                  <a:srgbClr val="14181F"/>
                </a:solidFill>
                <a:latin typeface="Calibri"/>
              </a:defRPr>
            </a:pPr>
            <a:r>
              <a:t>• Critical Bifurcation Threshold: Our 2D ODE predicts I*_c ≈ 1.05, within ~5–10% of Andersen et al. (2005b) card experiments (I*_c ≈ 1.10–1.30).</a:t>
            </a:r>
          </a:p>
          <a:p>
            <a:pPr>
              <a:spcAft>
                <a:spcPts val="300"/>
              </a:spcAft>
              <a:defRPr sz="1100">
                <a:solidFill>
                  <a:srgbClr val="14181F"/>
                </a:solidFill>
                <a:latin typeface="Cambria Math"/>
              </a:defRPr>
            </a:pPr>
            <a:r>
              <a:t>• Terminal Speed Ratio: Simulated U_mean / U_t matches Andersen (2005b) cards within 4% across both fluttering and tumbling branches (Fig. 10b).</a:t>
            </a:r>
          </a:p>
          <a:p>
            <a:pPr>
              <a:spcAft>
                <a:spcPts val="300"/>
              </a:spcAft>
              <a:defRPr sz="1100">
                <a:solidFill>
                  <a:srgbClr val="14181F"/>
                </a:solidFill>
                <a:latin typeface="Cambria Math"/>
              </a:defRPr>
            </a:pPr>
            <a:r>
              <a:t>• Flutter Frequency: Implied Strouhal number St ≈ 0.201 agrees with the Belmonte (1998) / Andersen (2005a) empirical card band St in [0.18, 0.22] (Fig. 10c).</a:t>
            </a:r>
          </a:p>
          <a:p>
            <a:pPr>
              <a:spcAft>
                <a:spcPts val="300"/>
              </a:spcAft>
              <a:defRPr sz="1100">
                <a:solidFill>
                  <a:srgbClr val="14181F"/>
                </a:solidFill>
                <a:latin typeface="Calibri"/>
              </a:defRPr>
            </a:pPr>
            <a:r>
              <a:t>• 3D vs 2D Discrepancy: Real 3D coins (ondrej-cloud 2024) tumble at lower I*_disk due to 3D azimuthal tipping modes absent in 2D planar models.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3611880"/>
          <a:ext cx="11274551" cy="2606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/>
                <a:gridCol w="2103120"/>
                <a:gridCol w="1508760"/>
                <a:gridCol w="1554480"/>
                <a:gridCol w="1874519"/>
                <a:gridCol w="2633472"/>
              </a:tblGrid>
              <a:tr h="521208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Study / Source</a:t>
                      </a:r>
                    </a:p>
                  </a:txBody>
                  <a:tcPr anchor="ctr" marT="36576" marB="36576" marL="45720" marR="45720">
                    <a:solidFill>
                      <a:srgbClr val="194B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Methodology &amp; Geometry</a:t>
                      </a:r>
                    </a:p>
                  </a:txBody>
                  <a:tcPr anchor="ctr" marT="36576" marB="36576" marL="45720" marR="45720">
                    <a:solidFill>
                      <a:srgbClr val="194B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 Range</a:t>
                      </a:r>
                    </a:p>
                  </a:txBody>
                  <a:tcPr anchor="ctr" marT="36576" marB="36576" marL="45720" marR="45720">
                    <a:solidFill>
                      <a:srgbClr val="194B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Steady → Flutter</a:t>
                      </a:r>
                    </a:p>
                  </a:txBody>
                  <a:tcPr anchor="ctr" marT="36576" marB="36576" marL="45720" marR="45720">
                    <a:solidFill>
                      <a:srgbClr val="194B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Flutter → Tumble (I*_c)</a:t>
                      </a:r>
                    </a:p>
                  </a:txBody>
                  <a:tcPr anchor="ctr" marT="36576" marB="36576" marL="45720" marR="45720">
                    <a:solidFill>
                      <a:srgbClr val="194B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Key Agreement / Difference vs. Our Model (Fig. 10)</a:t>
                      </a:r>
                    </a:p>
                  </a:txBody>
                  <a:tcPr anchor="ctr" marT="36576" marB="36576" marL="45720" marR="45720">
                    <a:solidFill>
                      <a:srgbClr val="194B8C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Present Work (2026)</a:t>
                      </a:r>
                      <a:br/>
                      <a:r>
                        <a:t>[Stage 1 2D ODE]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2D Quasi-Steady ODE</a:t>
                      </a:r>
                      <a:br/>
                      <a:r>
                        <a:t>(Elliptical cross-section)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332 – 5000</a:t>
                      </a:r>
                      <a:br/>
                      <a:r>
                        <a:t>(extrap. to 20,206)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I* ≈ 0.07 – 0.09</a:t>
                      </a:r>
                      <a:br/>
                      <a:r>
                        <a:t>(stabilized by μ_1)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I*_c ≈ 1.04 – 1.10</a:t>
                      </a:r>
                      <a:br/>
                      <a:r>
                        <a:t>(Mixed for I* &gt;= 1.41)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Closes energy budget to &lt; 10⁻⁴%; reproduces flutter St ≈ 0.20 and speed ratio U/U_t.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Andersen et al.</a:t>
                      </a:r>
                      <a:br/>
                      <a:r>
                        <a:t>(JFM 2005a,b)</a:t>
                      </a:r>
                    </a:p>
                  </a:txBody>
                  <a:tcPr anchor="ctr" marT="36576" marB="36576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Quasi-2D Aluminium Plates</a:t>
                      </a:r>
                      <a:br/>
                      <a:r>
                        <a:t>in Water + DNS + ODE</a:t>
                      </a:r>
                    </a:p>
                  </a:txBody>
                  <a:tcPr anchor="ctr" marT="36576" marB="36576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280 – 1200</a:t>
                      </a:r>
                      <a:br/>
                      <a:r>
                        <a:t>(2D card experiments)</a:t>
                      </a:r>
                    </a:p>
                  </a:txBody>
                  <a:tcPr anchor="ctr" marT="36576" marB="36576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I* ≈ 0.08 – 0.12</a:t>
                      </a:r>
                      <a:br/>
                      <a:r>
                        <a:t>(linear damping μ_1)</a:t>
                      </a:r>
                    </a:p>
                  </a:txBody>
                  <a:tcPr anchor="ctr" marT="36576" marB="36576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I*_c ≈ 1.10 – 1.30</a:t>
                      </a:r>
                      <a:br/>
                      <a:r>
                        <a:t>(Tumbling at I* = 1.4)</a:t>
                      </a:r>
                    </a:p>
                  </a:txBody>
                  <a:tcPr anchor="ctr" marT="36576" marB="36576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Our critical I*_c ≈ 1.05 agrees within ~5–10% of their physical card transition!</a:t>
                      </a:r>
                    </a:p>
                  </a:txBody>
                  <a:tcPr anchor="ctr" marT="36576" marB="36576" marL="45720" marR="45720">
                    <a:solidFill>
                      <a:srgbClr val="FFFFFF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Field et al.</a:t>
                      </a:r>
                      <a:br/>
                      <a:r>
                        <a:t>(Nature 1997)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3D Circular Disks (90 drops)</a:t>
                      </a:r>
                      <a:br/>
                      <a:r>
                        <a:t>in Water/Glycerol Mixtures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100 – 3000</a:t>
                      </a:r>
                      <a:br/>
                      <a:r>
                        <a:t>(3D axisymmetric disks)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I*_disk ≈ 10⁻²</a:t>
                      </a:r>
                      <a:br/>
                      <a:r>
                        <a:t>(Re-dependent curve)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I*_disk ≈ 0.03 – 0.04</a:t>
                      </a:r>
                      <a:br/>
                      <a:r>
                        <a:t>(equiv. 2D I* ≈ 0.6–0.8)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3D disks transition at lower effective I* due to 3D azimuthal roll and coning.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ondrej-cloud (2024)</a:t>
                      </a:r>
                      <a:br/>
                      <a:r>
                        <a:t>[3D Stereo, MIT]</a:t>
                      </a:r>
                    </a:p>
                  </a:txBody>
                  <a:tcPr anchor="ctr" marT="36576" marB="36576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143 Drops of 6 Czech Coins</a:t>
                      </a:r>
                      <a:br/>
                      <a:r>
                        <a:t>&amp; Washers (2 Phones, 38cm)</a:t>
                      </a:r>
                    </a:p>
                  </a:txBody>
                  <a:tcPr anchor="ctr" marT="36576" marB="36576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2000 – 6000</a:t>
                      </a:r>
                      <a:br/>
                      <a:r>
                        <a:t>(1–50 CZK coins)</a:t>
                      </a:r>
                    </a:p>
                  </a:txBody>
                  <a:tcPr anchor="ctr" marT="36576" marB="36576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Washers with hole</a:t>
                      </a:r>
                      <a:br/>
                      <a:r>
                        <a:t>most stable (lower I*)</a:t>
                      </a:r>
                    </a:p>
                  </a:txBody>
                  <a:tcPr anchor="ctr" marT="36576" marB="36576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All solid coins sit in</a:t>
                      </a:r>
                      <a:br/>
                      <a:r>
                        <a:t>tumbling / chaotic regime</a:t>
                      </a:r>
                    </a:p>
                  </a:txBody>
                  <a:tcPr anchor="ctr" marT="36576" marB="36576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Confirms real metal coins lie above I*_c; washers stabilize into fluttering.</a:t>
                      </a:r>
                    </a:p>
                  </a:txBody>
                  <a:tcPr anchor="ctr" marT="36576" marB="36576" marL="45720" marR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73952"/>
            <a:ext cx="11274552" cy="29260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defRPr sz="1000">
                <a:solidFill>
                  <a:srgbClr val="555F6E"/>
                </a:solidFill>
                <a:latin typeface="Calibri"/>
              </a:defRPr>
            </a:pPr>
            <a:r>
              <a:t>IYPT 2026 Problem 12: Autumn Coin  |  2D ODE &amp; WCSPH-FSI Numerical Investigation  |  Slide 21 / 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8686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500" b="1">
                <a:solidFill>
                  <a:srgbClr val="144182"/>
                </a:solidFill>
                <a:latin typeface="Calibri"/>
              </a:defRPr>
            </a:pPr>
            <a:r>
              <a:t>20. Critical Model Limitations &amp; Scope Boundaries</a:t>
            </a:r>
          </a:p>
          <a:p>
            <a:pPr>
              <a:defRPr sz="1350">
                <a:solidFill>
                  <a:srgbClr val="555F6E"/>
                </a:solidFill>
                <a:latin typeface="Calibri"/>
              </a:defRPr>
            </a:pPr>
            <a:r>
              <a:t>Transparent Assessment of Physical, Geometric, and Numerical Approximations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34440"/>
          <a:ext cx="11274552" cy="4983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1640"/>
                <a:gridCol w="3063240"/>
                <a:gridCol w="3337560"/>
                <a:gridCol w="3182112"/>
              </a:tblGrid>
              <a:tr h="830580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Limitation Category</a:t>
                      </a:r>
                    </a:p>
                  </a:txBody>
                  <a:tcPr anchor="ctr" marT="36576" marB="36576" marL="45720" marR="45720">
                    <a:solidFill>
                      <a:srgbClr val="194B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Specific Approximation in Present Study</a:t>
                      </a:r>
                    </a:p>
                  </a:txBody>
                  <a:tcPr anchor="ctr" marT="36576" marB="36576" marL="45720" marR="45720">
                    <a:solidFill>
                      <a:srgbClr val="194B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Physical / Numerical Consequence</a:t>
                      </a:r>
                    </a:p>
                  </a:txBody>
                  <a:tcPr anchor="ctr" marT="36576" marB="36576" marL="45720" marR="45720">
                    <a:solidFill>
                      <a:srgbClr val="194B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Mitigation &amp; Future Work Path</a:t>
                      </a:r>
                    </a:p>
                  </a:txBody>
                  <a:tcPr anchor="ctr" marT="36576" marB="36576" marL="45720" marR="45720">
                    <a:solidFill>
                      <a:srgbClr val="194B8C"/>
                    </a:solidFill>
                  </a:tcPr>
                </a:tc>
              </a:tr>
              <a:tr h="83058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1. 2D Planar vs.</a:t>
                      </a:r>
                      <a:br/>
                      <a:r>
                        <a:t>3D Disk Geometry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Models a 2D infinite-span elliptical strip (chord L, thickness h) instead of a 3D circular disk of diameter D.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Omits 3D azimuthal roll, helical precession ('coning'), 3D toroidal wake vortex rings, and 2D (X, Z) landing scatter.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Extend Kirchhoff &amp; SPH solver to 6-DOF 3D rigid disk with 3D added-mass tensor.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</a:tr>
              <a:tr h="83058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2. Quasi-Steady</a:t>
                      </a:r>
                      <a:br/>
                      <a:r>
                        <a:t>Wake Memory (ODE)</a:t>
                      </a:r>
                    </a:p>
                  </a:txBody>
                  <a:tcPr anchor="ctr" marT="36576" marB="36576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Instantaneous forces depend only on current (u, v, ω) via constant coefficients (C_T, C_R, C_D0, C_D1, C_τ).</a:t>
                      </a:r>
                    </a:p>
                  </a:txBody>
                  <a:tcPr anchor="ctr" marT="36576" marB="36576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Neglects history/Wagner effect and vortex-wake re-encounter during sharp cusp reversals; no explicit viscosity μ in ODE.</a:t>
                      </a:r>
                    </a:p>
                  </a:txBody>
                  <a:tcPr anchor="ctr" marT="36576" marB="36576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Addressed qualitatively by Stage 2 2D WCSPH solver which resolves shed vortices.</a:t>
                      </a:r>
                    </a:p>
                  </a:txBody>
                  <a:tcPr anchor="ctr" marT="36576" marB="36576" marL="45720" marR="45720">
                    <a:solidFill>
                      <a:srgbClr val="FFFFFF"/>
                    </a:solidFill>
                  </a:tcPr>
                </a:tc>
              </a:tr>
              <a:tr h="83058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3. Extrapolation</a:t>
                      </a:r>
                      <a:br/>
                      <a:r>
                        <a:t>Beyond Fitted Re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Quasi-steady coefficients were calibrated in Andersen et al. (2005a,b) at Re ~ 300–1,200 (up to ~5,000).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Grid points with Re_meas in [5,000, 20,206] extrapolate beyond the laminar/transitional shear-layer fit.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Restrict quantitative ODE comparisons to Re &lt;= 5,000 and flag higher-Re points.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</a:tr>
              <a:tr h="83058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4. 2D SPH Boundary</a:t>
                      </a:r>
                      <a:br/>
                      <a:r>
                        <a:t>Layer Resolution</a:t>
                      </a:r>
                    </a:p>
                  </a:txBody>
                  <a:tcPr anchor="ctr" marT="36576" marB="36576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At Δx = L/24 and h/L ≈ 0.08, plate thickness spans ~2 particles; laminar boundary layer δ ~ L/sqrt(Re) &lt; Δx for Re &gt; 200.</a:t>
                      </a:r>
                    </a:p>
                  </a:txBody>
                  <a:tcPr anchor="ctr" marT="36576" marB="36576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SPH shear layers are coarse-grained; high-Re SPH results are qualitative rather than DNS-grade.</a:t>
                      </a:r>
                    </a:p>
                  </a:txBody>
                  <a:tcPr anchor="ctr" marT="36576" marB="36576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Use Adaptive Particle Refinement (APR) or Immersed Boundary DNS (Pesavento 2004).</a:t>
                      </a:r>
                    </a:p>
                  </a:txBody>
                  <a:tcPr anchor="ctr" marT="36576" marB="36576" marL="45720" marR="45720">
                    <a:solidFill>
                      <a:srgbClr val="FFFFFF"/>
                    </a:solidFill>
                  </a:tcPr>
                </a:tc>
              </a:tr>
              <a:tr h="83058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5. Finite Tank Wall</a:t>
                      </a:r>
                      <a:br/>
                      <a:r>
                        <a:t>Blockage in SPH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SPH tank has finite width W &gt;= 12 L (&lt;= 8.3% blockage) vs. unbounded fluid in the 2D ODE.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Wall proximity slightly increases drag C_D and limits multi-meter tumbling glide.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Terminate SPH analysis 2 L before walls/floor and apply blockage corrections.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73952"/>
            <a:ext cx="11274552" cy="29260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defRPr sz="1000">
                <a:solidFill>
                  <a:srgbClr val="555F6E"/>
                </a:solidFill>
                <a:latin typeface="Calibri"/>
              </a:defRPr>
            </a:pPr>
            <a:r>
              <a:t>IYPT 2026 Problem 12: Autumn Coin  |  2D ODE &amp; WCSPH-FSI Numerical Investigation  |  Slide 22 / 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8686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500" b="1">
                <a:solidFill>
                  <a:srgbClr val="144182"/>
                </a:solidFill>
                <a:latin typeface="Calibri"/>
              </a:defRPr>
            </a:pPr>
            <a:r>
              <a:t>21. Conclusions &amp; Primary Literature References</a:t>
            </a:r>
          </a:p>
          <a:p>
            <a:pPr>
              <a:defRPr sz="1350">
                <a:solidFill>
                  <a:srgbClr val="555F6E"/>
                </a:solidFill>
                <a:latin typeface="Calibri"/>
              </a:defRPr>
            </a:pPr>
            <a:r>
              <a:t>Summary of How Falling Coin Motion Depends on Governing Physical Parameters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34440"/>
          <a:ext cx="11274551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2011680"/>
                <a:gridCol w="7342631"/>
              </a:tblGrid>
              <a:tr h="576072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Governing Parameter</a:t>
                      </a:r>
                    </a:p>
                  </a:txBody>
                  <a:tcPr anchor="ctr" marT="36576" marB="36576" marL="45720" marR="45720">
                    <a:solidFill>
                      <a:srgbClr val="194B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Symbol &amp; Definition</a:t>
                      </a:r>
                    </a:p>
                  </a:txBody>
                  <a:tcPr anchor="ctr" marT="36576" marB="36576" marL="45720" marR="45720">
                    <a:solidFill>
                      <a:srgbClr val="194B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Observed Effect on Falling Coin Motion</a:t>
                      </a:r>
                    </a:p>
                  </a:txBody>
                  <a:tcPr anchor="ctr" marT="36576" marB="36576" marL="45720" marR="45720">
                    <a:solidFill>
                      <a:srgbClr val="194B8C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Dimensionless Inertia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I* = (ρ_s h) / (ρ_f L)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Primary bifurcation parameter: drives transition from Steady (I*&lt;=0.068) → Fluttering (0.09–0.90) → Clean Tumbling (I*≈1.05–1.25) → Mixed/Chaotic (I*&gt;=1.30), jumping lateral drift by &gt;10×.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Reynolds Number / Viscosity</a:t>
                      </a:r>
                    </a:p>
                  </a:txBody>
                  <a:tcPr anchor="ctr" marT="36576" marB="36576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Re = ρ_f U L / μ</a:t>
                      </a:r>
                    </a:p>
                  </a:txBody>
                  <a:tcPr anchor="ctr" marT="36576" marB="36576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High viscosity (low Re &lt; 50) overdamps pitching into steady descent; at coin Reynolds numbers (Re ~ 500–5,000), pressure &amp; circulation forces dominate and regime boundaries become weakly dependent on Re.</a:t>
                      </a:r>
                    </a:p>
                  </a:txBody>
                  <a:tcPr anchor="ctr" marT="36576" marB="36576" marL="45720" marR="45720">
                    <a:solidFill>
                      <a:srgbClr val="FFFFFF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Initial Release Angle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θ_0 in [0°, 90°]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Insensitive attractor in fluttering regime (sets only initial glide phase); near/above I*_c, small θ_0 perturbations amplify landing scatter by 32× (σ_X = 0.01 m at I*=0.20 → 0.32 m at I*=3.50).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Geometry / Internal Cutout</a:t>
                      </a:r>
                    </a:p>
                  </a:txBody>
                  <a:tcPr anchor="ctr" marT="36576" marB="36576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β = h/L  &amp;  Washer Hole</a:t>
                      </a:r>
                    </a:p>
                  </a:txBody>
                  <a:tcPr anchor="ctr" marT="36576" marB="36576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Central hole (washer) reduces effective mass/inertia relative to chord diameter L, lowering effective I* into the stable/fluttering regime.</a:t>
                      </a:r>
                    </a:p>
                  </a:txBody>
                  <a:tcPr anchor="ctr" marT="36576" marB="36576" marL="45720" marR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457200" y="4251960"/>
            <a:ext cx="11274552" cy="2057400"/>
          </a:xfrm>
          <a:prstGeom prst="roundRect">
            <a:avLst/>
          </a:prstGeom>
          <a:solidFill>
            <a:srgbClr val="F4F7FB"/>
          </a:solidFill>
          <a:ln w="15875">
            <a:solidFill>
              <a:srgbClr val="C3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>
              <a:spcAft>
                <a:spcPts val="400"/>
              </a:spcAft>
              <a:defRPr sz="1150" b="1">
                <a:solidFill>
                  <a:srgbClr val="144182"/>
                </a:solidFill>
                <a:latin typeface="Calibri"/>
              </a:defRPr>
            </a:pPr>
            <a:r>
              <a:t>Verified Primary Literature References (Replacing All Non-Peer-Reviewed / AI Tool Citations)</a:t>
            </a:r>
          </a:p>
          <a:p>
            <a:pPr>
              <a:spcAft>
                <a:spcPts val="300"/>
              </a:spcAft>
              <a:defRPr sz="1050">
                <a:solidFill>
                  <a:srgbClr val="14181F"/>
                </a:solidFill>
                <a:latin typeface="Cambria Math"/>
              </a:defRPr>
            </a:pPr>
            <a:r>
              <a:t>1. S. B. Field, M. Klaus, M. G. Moore &amp; F. Nori, “Chaotic dynamics of falling disks,” Nature 388, 252–254 (1997). DOI: 10.1038/40817.</a:t>
            </a:r>
          </a:p>
          <a:p>
            <a:pPr>
              <a:spcAft>
                <a:spcPts val="300"/>
              </a:spcAft>
              <a:defRPr sz="1050">
                <a:solidFill>
                  <a:srgbClr val="14181F"/>
                </a:solidFill>
                <a:latin typeface="Calibri"/>
              </a:defRPr>
            </a:pPr>
            <a:r>
              <a:t>2. U. Pesavento &amp; Z. J. Wang, “Falling paper: Navier–Stokes solutions, model of fluid forces, and center of mass elevation,” Phys. Rev. Lett. 93, 144501 (2004).</a:t>
            </a:r>
          </a:p>
          <a:p>
            <a:pPr>
              <a:spcAft>
                <a:spcPts val="300"/>
              </a:spcAft>
              <a:defRPr sz="1050">
                <a:solidFill>
                  <a:srgbClr val="14181F"/>
                </a:solidFill>
                <a:latin typeface="Cambria Math"/>
              </a:defRPr>
            </a:pPr>
            <a:r>
              <a:t>3. A. Andersen, U. Pesavento &amp; Z. J. Wang, “Unsteady aerodynamics of fluttering and tumbling plates,” J. Fluid Mech. 541, 65–90 (2005a). DOI: 10.1017/S002211200500594X.</a:t>
            </a:r>
          </a:p>
          <a:p>
            <a:pPr>
              <a:spcAft>
                <a:spcPts val="300"/>
              </a:spcAft>
              <a:defRPr sz="1050">
                <a:solidFill>
                  <a:srgbClr val="14181F"/>
                </a:solidFill>
                <a:latin typeface="Cambria Math"/>
              </a:defRPr>
            </a:pPr>
            <a:r>
              <a:t>4. A. Andersen, U. Pesavento &amp; Z. J. Wang, “Analysis of transitions between fluttering, tumbling and steady descent of falling cards,” J. Fluid Mech. 541, 91–104 (2005b). DOI: 10.1017/S0022112005005847.</a:t>
            </a:r>
          </a:p>
          <a:p>
            <a:pPr>
              <a:spcAft>
                <a:spcPts val="300"/>
              </a:spcAft>
              <a:defRPr sz="1050">
                <a:solidFill>
                  <a:srgbClr val="14181F"/>
                </a:solidFill>
                <a:latin typeface="Calibri"/>
              </a:defRPr>
            </a:pPr>
            <a:r>
              <a:t>5. N. Akinci, M. Ihmsen, G. Akinci, B. Solenthaler &amp; M. Teschner, “Versatile rigid-fluid coupling for incompressible SPH,” ACM Trans. Graph. 31(4), 62 (2012).</a:t>
            </a:r>
          </a:p>
          <a:p>
            <a:pPr>
              <a:spcAft>
                <a:spcPts val="300"/>
              </a:spcAft>
              <a:defRPr sz="1050">
                <a:solidFill>
                  <a:srgbClr val="14181F"/>
                </a:solidFill>
                <a:latin typeface="Cambria Math"/>
              </a:defRPr>
            </a:pPr>
            <a:r>
              <a:t>6. O. Šrámek et al., “Autumn Coin: 3D Stereoscopic Tracking &amp; ODE Simulation Dataset,” GitHub Repository (MIT License), github.com/ondrej-cloud/autumn-coin.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